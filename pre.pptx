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9" r:id="rId4"/>
    <p:sldId id="260" r:id="rId5"/>
    <p:sldId id="262" r:id="rId6"/>
    <p:sldId id="263" r:id="rId7"/>
    <p:sldId id="264" r:id="rId8"/>
    <p:sldId id="268" r:id="rId9"/>
    <p:sldId id="269" r:id="rId10"/>
    <p:sldId id="266" r:id="rId11"/>
    <p:sldId id="267" r:id="rId12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 autoAdjust="0"/>
    <p:restoredTop sz="91034" autoAdjust="0"/>
  </p:normalViewPr>
  <p:slideViewPr>
    <p:cSldViewPr>
      <p:cViewPr varScale="1">
        <p:scale>
          <a:sx n="86" d="100"/>
          <a:sy n="86" d="100"/>
        </p:scale>
        <p:origin x="696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AE6907-4262-984B-B528-BCC109B6BBC6}" type="datetimeFigureOut">
              <a:rPr lang="en-US" smtClean="0"/>
              <a:t>12/6/25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CFA895-9440-2B42-A5D1-8830DBC627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0206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srgbClr val="000000"/>
                </a:solidFill>
                <a:latin typeface="Poppins"/>
              </a:rPr>
              <a:t>"Sales are highly sensitive to storms and housing turnover, which are largely outside Home Depot's direct control, creating unpredictable swings in quarterly performance."</a:t>
            </a:r>
            <a:endParaRPr lang="en-US" sz="10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FA895-9440-2B42-A5D1-8830DBC6277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4661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an intern, I’m not changing the macro environment, but I </a:t>
            </a:r>
            <a:r>
              <a:rPr lang="en-US" i="1" dirty="0"/>
              <a:t>can</a:t>
            </a:r>
            <a:r>
              <a:rPr lang="en-US" dirty="0"/>
              <a:t> help quantify where demand is stable versus fragile.</a:t>
            </a:r>
            <a:br>
              <a:rPr lang="en-US" dirty="0"/>
            </a:br>
            <a:r>
              <a:rPr lang="en-US" dirty="0"/>
              <a:t>The goal is to support more predictable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FA895-9440-2B42-A5D1-8830DBC6277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8506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FA895-9440-2B42-A5D1-8830DBC6277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222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FA895-9440-2B42-A5D1-8830DBC6277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5405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FA895-9440-2B42-A5D1-8830DBC6277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2731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>
            <a:alpha val="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4.jpe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4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6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D0A2C">
              <a:alpha val="74902"/>
            </a:srgbClr>
          </a:solidFill>
          <a:ln w="50800">
            <a:solidFill>
              <a:srgbClr val="FFC277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rcRect t="8000" b="8000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rcRect t="1000" b="1000"/>
          <a:stretch>
            <a:fillRect/>
          </a:stretch>
        </p:blipFill>
        <p:spPr>
          <a:xfrm>
            <a:off x="50800" y="50800"/>
            <a:ext cx="16129000" cy="9017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50800" y="279400"/>
            <a:ext cx="16129000" cy="90170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/>
          <a:lstStyle/>
          <a:p>
            <a:endParaRPr lang="en-US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5570200" y="190500"/>
            <a:ext cx="469900" cy="4699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8115300" y="1016000"/>
            <a:ext cx="7239000" cy="37719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r">
              <a:lnSpc>
                <a:spcPct val="160000"/>
              </a:lnSpc>
              <a:defRPr/>
            </a:pPr>
            <a:r>
              <a:rPr lang="en-US" sz="4900" b="1" dirty="0">
                <a:solidFill>
                  <a:schemeClr val="accent6">
                    <a:lumMod val="75000"/>
                  </a:schemeClr>
                </a:solidFill>
                <a:latin typeface="&quot;Yeseva One&quot;"/>
              </a:rPr>
              <a:t>Stabilizing Comparable Sales at The Home Depot with Data-Driven Resilience</a:t>
            </a:r>
            <a:endParaRPr lang="en-US" sz="11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115300" y="5080000"/>
            <a:ext cx="7239000" cy="15113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r">
              <a:lnSpc>
                <a:spcPct val="150000"/>
              </a:lnSpc>
              <a:defRPr/>
            </a:pPr>
            <a:r>
              <a:rPr lang="en-US" sz="1900" b="1" dirty="0">
                <a:solidFill>
                  <a:srgbClr val="000000"/>
                </a:solidFill>
                <a:latin typeface="Poppins"/>
              </a:rPr>
              <a:t>A proposal exploring how data science can help stabilize fragile comparable sales performance amid weather and housing headwinds.</a:t>
            </a:r>
            <a:endParaRPr lang="en-US" sz="1100" dirty="0"/>
          </a:p>
        </p:txBody>
      </p:sp>
      <p:sp>
        <p:nvSpPr>
          <p:cNvPr id="9" name="TextBox 9"/>
          <p:cNvSpPr txBox="1"/>
          <p:nvPr/>
        </p:nvSpPr>
        <p:spPr>
          <a:xfrm>
            <a:off x="8115300" y="6870700"/>
            <a:ext cx="7239000" cy="9398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r">
              <a:lnSpc>
                <a:spcPct val="150000"/>
              </a:lnSpc>
              <a:defRPr/>
            </a:pPr>
            <a:r>
              <a:rPr lang="en-US" sz="4800" dirty="0">
                <a:solidFill>
                  <a:schemeClr val="accent6">
                    <a:lumMod val="75000"/>
                  </a:schemeClr>
                </a:solidFill>
              </a:rPr>
              <a:t>Chuhan (Brynn) Zhang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115300" y="7810500"/>
            <a:ext cx="7239000" cy="2921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r">
              <a:lnSpc>
                <a:spcPct val="150000"/>
              </a:lnSpc>
              <a:defRPr/>
            </a:pPr>
            <a:r>
              <a:rPr lang="en-US" sz="1500" b="1">
                <a:solidFill>
                  <a:srgbClr val="000000"/>
                </a:solidFill>
                <a:latin typeface="Poppins"/>
              </a:rPr>
              <a:t>Data-Driven Proposal • December 2025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D0A2C">
              <a:alpha val="74902"/>
            </a:srgbClr>
          </a:solidFill>
          <a:ln w="50800">
            <a:solidFill>
              <a:srgbClr val="FFC277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4" name="AutoShape 4"/>
          <p:cNvSpPr/>
          <p:nvPr/>
        </p:nvSpPr>
        <p:spPr>
          <a:xfrm>
            <a:off x="876300" y="2527300"/>
            <a:ext cx="14490700" cy="49530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/>
          <a:lstStyle/>
          <a:p>
            <a:endParaRPr lang="en-US"/>
          </a:p>
        </p:txBody>
      </p:sp>
      <p:sp>
        <p:nvSpPr>
          <p:cNvPr id="5" name="AutoShape 5"/>
          <p:cNvSpPr/>
          <p:nvPr/>
        </p:nvSpPr>
        <p:spPr>
          <a:xfrm>
            <a:off x="876300" y="2527300"/>
            <a:ext cx="3429000" cy="4953000"/>
          </a:xfrm>
          <a:prstGeom prst="rect">
            <a:avLst/>
          </a:prstGeom>
          <a:solidFill>
            <a:srgbClr val="E1A862"/>
          </a:solidFill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>
            <a:off x="1130300" y="2781300"/>
            <a:ext cx="749300" cy="749300"/>
          </a:xfrm>
          <a:prstGeom prst="roundRect">
            <a:avLst>
              <a:gd name="adj" fmla="val 49152"/>
            </a:avLst>
          </a:prstGeom>
          <a:solidFill>
            <a:srgbClr val="A37135"/>
          </a:solidFill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4559300" y="2527300"/>
            <a:ext cx="3429000" cy="4953000"/>
          </a:xfrm>
          <a:prstGeom prst="rect">
            <a:avLst/>
          </a:prstGeom>
          <a:solidFill>
            <a:srgbClr val="E1A862"/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AutoShape 8"/>
          <p:cNvSpPr/>
          <p:nvPr/>
        </p:nvSpPr>
        <p:spPr>
          <a:xfrm>
            <a:off x="4813300" y="2781300"/>
            <a:ext cx="749300" cy="749300"/>
          </a:xfrm>
          <a:prstGeom prst="roundRect">
            <a:avLst>
              <a:gd name="adj" fmla="val 49152"/>
            </a:avLst>
          </a:prstGeom>
          <a:solidFill>
            <a:srgbClr val="A37135"/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AutoShape 9"/>
          <p:cNvSpPr/>
          <p:nvPr/>
        </p:nvSpPr>
        <p:spPr>
          <a:xfrm>
            <a:off x="8242300" y="2527300"/>
            <a:ext cx="3429000" cy="4953000"/>
          </a:xfrm>
          <a:prstGeom prst="rect">
            <a:avLst/>
          </a:prstGeom>
          <a:solidFill>
            <a:srgbClr val="E1A862"/>
          </a:solidFill>
        </p:spPr>
        <p:txBody>
          <a:bodyPr/>
          <a:lstStyle/>
          <a:p>
            <a:endParaRPr lang="en-US"/>
          </a:p>
        </p:txBody>
      </p:sp>
      <p:sp>
        <p:nvSpPr>
          <p:cNvPr id="10" name="AutoShape 10"/>
          <p:cNvSpPr/>
          <p:nvPr/>
        </p:nvSpPr>
        <p:spPr>
          <a:xfrm>
            <a:off x="8496300" y="2781300"/>
            <a:ext cx="749300" cy="749300"/>
          </a:xfrm>
          <a:prstGeom prst="roundRect">
            <a:avLst>
              <a:gd name="adj" fmla="val 49152"/>
            </a:avLst>
          </a:prstGeom>
          <a:solidFill>
            <a:srgbClr val="A37135"/>
          </a:solidFill>
        </p:spPr>
        <p:txBody>
          <a:bodyPr/>
          <a:lstStyle/>
          <a:p>
            <a:endParaRPr lang="en-US"/>
          </a:p>
        </p:txBody>
      </p:sp>
      <p:sp>
        <p:nvSpPr>
          <p:cNvPr id="11" name="AutoShape 11"/>
          <p:cNvSpPr/>
          <p:nvPr/>
        </p:nvSpPr>
        <p:spPr>
          <a:xfrm>
            <a:off x="11938000" y="2527300"/>
            <a:ext cx="3429000" cy="4953000"/>
          </a:xfrm>
          <a:prstGeom prst="rect">
            <a:avLst/>
          </a:prstGeom>
          <a:solidFill>
            <a:srgbClr val="E1A862"/>
          </a:solidFill>
        </p:spPr>
        <p:txBody>
          <a:bodyPr/>
          <a:lstStyle/>
          <a:p>
            <a:endParaRPr lang="en-US"/>
          </a:p>
        </p:txBody>
      </p:sp>
      <p:sp>
        <p:nvSpPr>
          <p:cNvPr id="12" name="AutoShape 12"/>
          <p:cNvSpPr/>
          <p:nvPr/>
        </p:nvSpPr>
        <p:spPr>
          <a:xfrm>
            <a:off x="12179300" y="2781300"/>
            <a:ext cx="749300" cy="749300"/>
          </a:xfrm>
          <a:prstGeom prst="roundRect">
            <a:avLst>
              <a:gd name="adj" fmla="val 49152"/>
            </a:avLst>
          </a:prstGeom>
          <a:solidFill>
            <a:srgbClr val="A37135"/>
          </a:solidFill>
        </p:spPr>
        <p:txBody>
          <a:bodyPr/>
          <a:lstStyle/>
          <a:p>
            <a:endParaRPr lang="en-US"/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5570200" y="190500"/>
            <a:ext cx="469900" cy="4699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876300" y="1638300"/>
            <a:ext cx="14490700" cy="5969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20000"/>
              </a:lnSpc>
              <a:defRPr/>
            </a:pPr>
            <a:r>
              <a:rPr lang="en-US" sz="3900" b="1" dirty="0">
                <a:solidFill>
                  <a:schemeClr val="accent6">
                    <a:lumMod val="75000"/>
                  </a:schemeClr>
                </a:solidFill>
                <a:latin typeface="Poppins"/>
              </a:rPr>
              <a:t>Context: The Potential Challenge at The Home Depot</a:t>
            </a:r>
            <a:endParaRPr lang="en-US" sz="11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130300" y="3784600"/>
            <a:ext cx="2921000" cy="4445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20000"/>
              </a:lnSpc>
              <a:defRPr/>
            </a:pPr>
            <a:r>
              <a:rPr lang="en-US" sz="2400" b="1" dirty="0">
                <a:solidFill>
                  <a:srgbClr val="FF6600"/>
                </a:solidFill>
                <a:latin typeface="Poppins"/>
              </a:rPr>
              <a:t>2024: $152.7B</a:t>
            </a:r>
            <a:endParaRPr lang="en-US" sz="1100" dirty="0"/>
          </a:p>
        </p:txBody>
      </p:sp>
      <p:sp>
        <p:nvSpPr>
          <p:cNvPr id="16" name="TextBox 16"/>
          <p:cNvSpPr txBox="1"/>
          <p:nvPr/>
        </p:nvSpPr>
        <p:spPr>
          <a:xfrm>
            <a:off x="4813300" y="3784600"/>
            <a:ext cx="2921000" cy="4445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20000"/>
              </a:lnSpc>
              <a:defRPr/>
            </a:pPr>
            <a:r>
              <a:rPr lang="en-US" sz="2400" b="1" dirty="0">
                <a:solidFill>
                  <a:srgbClr val="FF6600"/>
                </a:solidFill>
                <a:latin typeface="Poppins"/>
              </a:rPr>
              <a:t>2025: $159.5B</a:t>
            </a:r>
            <a:endParaRPr lang="en-US" sz="1100" dirty="0"/>
          </a:p>
        </p:txBody>
      </p:sp>
      <p:sp>
        <p:nvSpPr>
          <p:cNvPr id="17" name="TextBox 17"/>
          <p:cNvSpPr txBox="1"/>
          <p:nvPr/>
        </p:nvSpPr>
        <p:spPr>
          <a:xfrm>
            <a:off x="8496300" y="3784600"/>
            <a:ext cx="2921000" cy="4445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20000"/>
              </a:lnSpc>
              <a:defRPr/>
            </a:pPr>
            <a:r>
              <a:rPr lang="en-US" sz="2400" b="1">
                <a:solidFill>
                  <a:srgbClr val="FF6600"/>
                </a:solidFill>
                <a:latin typeface="Poppins"/>
              </a:rPr>
              <a:t>$41.4B</a:t>
            </a:r>
            <a:endParaRPr lang="en-US" sz="1100"/>
          </a:p>
        </p:txBody>
      </p:sp>
      <p:sp>
        <p:nvSpPr>
          <p:cNvPr id="18" name="TextBox 18"/>
          <p:cNvSpPr txBox="1"/>
          <p:nvPr/>
        </p:nvSpPr>
        <p:spPr>
          <a:xfrm>
            <a:off x="12179300" y="3784600"/>
            <a:ext cx="2921000" cy="4445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20000"/>
              </a:lnSpc>
              <a:defRPr/>
            </a:pPr>
            <a:r>
              <a:rPr lang="en-US" sz="2900" b="1">
                <a:solidFill>
                  <a:srgbClr val="100900"/>
                </a:solidFill>
                <a:latin typeface="Poppins"/>
              </a:rPr>
              <a:t>Key Headwinds</a:t>
            </a:r>
            <a:endParaRPr lang="en-US" sz="1100"/>
          </a:p>
        </p:txBody>
      </p:sp>
      <p:sp>
        <p:nvSpPr>
          <p:cNvPr id="19" name="TextBox 19"/>
          <p:cNvSpPr txBox="1"/>
          <p:nvPr/>
        </p:nvSpPr>
        <p:spPr>
          <a:xfrm>
            <a:off x="1130300" y="4419600"/>
            <a:ext cx="2921000" cy="15113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900" b="1">
                <a:solidFill>
                  <a:srgbClr val="000000"/>
                </a:solidFill>
                <a:latin typeface="Poppins"/>
              </a:rPr>
              <a:t>Fiscal 2023 total sales declined </a:t>
            </a:r>
            <a:r>
              <a:rPr lang="en-US" sz="1600" b="1">
                <a:solidFill>
                  <a:srgbClr val="E74C3C"/>
                </a:solidFill>
                <a:latin typeface="Poppins"/>
              </a:rPr>
              <a:t>3.0%</a:t>
            </a:r>
            <a:r>
              <a:rPr lang="en-US" sz="1900" b="1">
                <a:solidFill>
                  <a:srgbClr val="000000"/>
                </a:solidFill>
                <a:latin typeface="Poppins"/>
              </a:rPr>
              <a:t>, comparable sales down </a:t>
            </a:r>
            <a:r>
              <a:rPr lang="en-US" sz="1600" b="1">
                <a:solidFill>
                  <a:srgbClr val="E74C3C"/>
                </a:solidFill>
                <a:latin typeface="Poppins"/>
              </a:rPr>
              <a:t>3.2%</a:t>
            </a:r>
            <a:endParaRPr lang="en-US" sz="1100"/>
          </a:p>
        </p:txBody>
      </p:sp>
      <p:sp>
        <p:nvSpPr>
          <p:cNvPr id="20" name="TextBox 20"/>
          <p:cNvSpPr txBox="1"/>
          <p:nvPr/>
        </p:nvSpPr>
        <p:spPr>
          <a:xfrm>
            <a:off x="1200150" y="6108700"/>
            <a:ext cx="2921000" cy="11303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100" b="1" dirty="0">
                <a:solidFill>
                  <a:schemeClr val="bg1">
                    <a:lumMod val="50000"/>
                  </a:schemeClr>
                </a:solidFill>
                <a:latin typeface="Poppins"/>
              </a:rPr>
              <a:t>Source: Home Depot Investor Relations (2023 Annual Report)</a:t>
            </a:r>
            <a:endParaRPr 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4813300" y="4419600"/>
            <a:ext cx="2921000" cy="15113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900" b="1" dirty="0">
                <a:solidFill>
                  <a:srgbClr val="000000"/>
                </a:solidFill>
                <a:latin typeface="Poppins"/>
              </a:rPr>
              <a:t>Fiscal 2024 total sales grew </a:t>
            </a:r>
            <a:r>
              <a:rPr lang="en-US" sz="1600" b="1" dirty="0">
                <a:solidFill>
                  <a:schemeClr val="accent3">
                    <a:lumMod val="75000"/>
                  </a:schemeClr>
                </a:solidFill>
                <a:latin typeface="Poppins"/>
              </a:rPr>
              <a:t>4.5%</a:t>
            </a:r>
            <a:r>
              <a:rPr lang="en-US" sz="1900" b="1" dirty="0">
                <a:solidFill>
                  <a:schemeClr val="accent3">
                    <a:lumMod val="75000"/>
                  </a:schemeClr>
                </a:solidFill>
                <a:latin typeface="Poppins"/>
              </a:rPr>
              <a:t>, </a:t>
            </a:r>
            <a:r>
              <a:rPr lang="en-US" sz="1900" b="1" dirty="0">
                <a:solidFill>
                  <a:srgbClr val="000000"/>
                </a:solidFill>
                <a:latin typeface="Poppins"/>
              </a:rPr>
              <a:t>but comparable sales still declined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Poppins"/>
              </a:rPr>
              <a:t>1.8%</a:t>
            </a:r>
            <a:endParaRPr lang="en-US" sz="11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4813300" y="6108700"/>
            <a:ext cx="2921000" cy="11303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100" b="1" dirty="0">
                <a:solidFill>
                  <a:schemeClr val="bg1">
                    <a:lumMod val="50000"/>
                  </a:schemeClr>
                </a:solidFill>
                <a:latin typeface="Poppins"/>
              </a:rPr>
              <a:t>Source: Home Depot Investor Relations (2024 Annual Report)</a:t>
            </a:r>
            <a:endParaRPr lang="en-US" sz="11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8496300" y="4419600"/>
            <a:ext cx="2921000" cy="11303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900" b="1" dirty="0">
                <a:solidFill>
                  <a:srgbClr val="000000"/>
                </a:solidFill>
                <a:latin typeface="Poppins"/>
              </a:rPr>
              <a:t>Q3 2025: sales </a:t>
            </a:r>
            <a:r>
              <a:rPr lang="en-US" sz="1600" b="1" dirty="0">
                <a:solidFill>
                  <a:schemeClr val="accent3">
                    <a:lumMod val="75000"/>
                  </a:schemeClr>
                </a:solidFill>
                <a:latin typeface="Poppins"/>
              </a:rPr>
              <a:t>+2.8%</a:t>
            </a:r>
            <a:r>
              <a:rPr lang="en-US" sz="1900" b="1" dirty="0">
                <a:solidFill>
                  <a:schemeClr val="accent3">
                    <a:lumMod val="75000"/>
                  </a:schemeClr>
                </a:solidFill>
                <a:latin typeface="Poppins"/>
              </a:rPr>
              <a:t>, </a:t>
            </a:r>
            <a:r>
              <a:rPr lang="en-US" sz="1900" b="1" dirty="0">
                <a:solidFill>
                  <a:srgbClr val="000000"/>
                </a:solidFill>
                <a:latin typeface="Poppins"/>
              </a:rPr>
              <a:t>but comparable sales only </a:t>
            </a:r>
            <a:r>
              <a:rPr lang="en-US" sz="1600" b="1" dirty="0">
                <a:solidFill>
                  <a:schemeClr val="accent1">
                    <a:lumMod val="75000"/>
                  </a:schemeClr>
                </a:solidFill>
                <a:latin typeface="Poppins"/>
              </a:rPr>
              <a:t>+0.2%</a:t>
            </a:r>
            <a:r>
              <a:rPr lang="en-US" sz="1900" b="1" dirty="0">
                <a:solidFill>
                  <a:schemeClr val="accent1">
                    <a:lumMod val="75000"/>
                  </a:schemeClr>
                </a:solidFill>
                <a:latin typeface="Poppins"/>
              </a:rPr>
              <a:t> </a:t>
            </a:r>
            <a:r>
              <a:rPr lang="en-US" sz="1900" b="1" dirty="0">
                <a:solidFill>
                  <a:srgbClr val="000000"/>
                </a:solidFill>
                <a:latin typeface="Poppins"/>
              </a:rPr>
              <a:t>(U.S. </a:t>
            </a:r>
            <a:r>
              <a:rPr lang="en-US" sz="1600" b="1" dirty="0">
                <a:solidFill>
                  <a:schemeClr val="accent1">
                    <a:lumMod val="75000"/>
                  </a:schemeClr>
                </a:solidFill>
                <a:latin typeface="Poppins"/>
              </a:rPr>
              <a:t>+0.1%</a:t>
            </a:r>
            <a:r>
              <a:rPr lang="en-US" sz="1900" b="1" dirty="0">
                <a:solidFill>
                  <a:srgbClr val="000000"/>
                </a:solidFill>
                <a:latin typeface="Poppins"/>
              </a:rPr>
              <a:t>)</a:t>
            </a:r>
            <a:endParaRPr lang="en-US" sz="1100" dirty="0"/>
          </a:p>
        </p:txBody>
      </p:sp>
      <p:sp>
        <p:nvSpPr>
          <p:cNvPr id="24" name="TextBox 24"/>
          <p:cNvSpPr txBox="1"/>
          <p:nvPr/>
        </p:nvSpPr>
        <p:spPr>
          <a:xfrm>
            <a:off x="8496300" y="5727700"/>
            <a:ext cx="2921000" cy="15113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100" b="1" dirty="0">
                <a:solidFill>
                  <a:schemeClr val="bg1">
                    <a:lumMod val="50000"/>
                  </a:schemeClr>
                </a:solidFill>
                <a:latin typeface="Poppins"/>
              </a:rPr>
              <a:t>Source: The Home Depot Q3 2025 Earnings Release (Nov 18, 2025)</a:t>
            </a:r>
            <a:endParaRPr lang="en-US" sz="11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2206287" y="4610100"/>
            <a:ext cx="2921000" cy="11303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900" b="1" dirty="0">
                <a:solidFill>
                  <a:srgbClr val="000000"/>
                </a:solidFill>
                <a:latin typeface="Poppins"/>
              </a:rPr>
              <a:t>Weather (fewer storms) and housing market weakness</a:t>
            </a:r>
            <a:endParaRPr lang="en-US" sz="1100" dirty="0"/>
          </a:p>
        </p:txBody>
      </p:sp>
      <p:sp>
        <p:nvSpPr>
          <p:cNvPr id="26" name="TextBox 26"/>
          <p:cNvSpPr txBox="1"/>
          <p:nvPr/>
        </p:nvSpPr>
        <p:spPr>
          <a:xfrm>
            <a:off x="12179300" y="5961062"/>
            <a:ext cx="2921000" cy="11303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100" b="1" dirty="0">
                <a:solidFill>
                  <a:schemeClr val="bg1">
                    <a:lumMod val="50000"/>
                  </a:schemeClr>
                </a:solidFill>
                <a:latin typeface="Poppins"/>
              </a:rPr>
              <a:t>Source: CEO Ted Decker quote from Q3 2025 earnings</a:t>
            </a:r>
            <a:endParaRPr lang="en-US" sz="11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384300" y="3035300"/>
            <a:ext cx="241300" cy="241300"/>
          </a:xfrm>
          <a:prstGeom prst="rect">
            <a:avLst/>
          </a:prstGeom>
        </p:spPr>
      </p:pic>
      <p:pic>
        <p:nvPicPr>
          <p:cNvPr id="28" name="Picture 28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5067300" y="3035300"/>
            <a:ext cx="241300" cy="241300"/>
          </a:xfrm>
          <a:prstGeom prst="rect">
            <a:avLst/>
          </a:prstGeom>
        </p:spPr>
      </p:pic>
      <p:pic>
        <p:nvPicPr>
          <p:cNvPr id="29" name="Picture 29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8750300" y="3035300"/>
            <a:ext cx="241300" cy="241300"/>
          </a:xfrm>
          <a:prstGeom prst="rect">
            <a:avLst/>
          </a:prstGeom>
        </p:spPr>
      </p:pic>
      <p:pic>
        <p:nvPicPr>
          <p:cNvPr id="30" name="Picture 30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12433300" y="3035300"/>
            <a:ext cx="241300" cy="2413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D0A2C">
              <a:alpha val="74902"/>
            </a:srgbClr>
          </a:solidFill>
          <a:ln w="50800">
            <a:solidFill>
              <a:srgbClr val="FFC277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4" name="AutoShape 4"/>
          <p:cNvSpPr/>
          <p:nvPr/>
        </p:nvSpPr>
        <p:spPr>
          <a:xfrm>
            <a:off x="876300" y="1384300"/>
            <a:ext cx="14490700" cy="7137400"/>
          </a:xfrm>
          <a:prstGeom prst="rect">
            <a:avLst/>
          </a:prstGeom>
          <a:solidFill>
            <a:srgbClr val="E1A862"/>
          </a:solidFill>
        </p:spPr>
        <p:txBody>
          <a:bodyPr/>
          <a:lstStyle/>
          <a:p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rcRect t="7000" b="7000"/>
          <a:stretch>
            <a:fillRect/>
          </a:stretch>
        </p:blipFill>
        <p:spPr>
          <a:xfrm>
            <a:off x="15570200" y="165100"/>
            <a:ext cx="469900" cy="4064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9900" y="1384300"/>
            <a:ext cx="12738100" cy="71374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876300" y="609600"/>
            <a:ext cx="14490700" cy="520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20000"/>
              </a:lnSpc>
              <a:defRPr/>
            </a:pPr>
            <a:r>
              <a:rPr lang="en-US" sz="3400" b="1" dirty="0">
                <a:solidFill>
                  <a:schemeClr val="accent6">
                    <a:lumMod val="75000"/>
                  </a:schemeClr>
                </a:solidFill>
                <a:latin typeface="Poppins"/>
              </a:rPr>
              <a:t>Home Depot's Revenue Scale (2021–2025)</a:t>
            </a:r>
            <a:endParaRPr lang="en-US" sz="1100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D0A2C">
              <a:alpha val="74902"/>
            </a:srgbClr>
          </a:solidFill>
          <a:ln w="50800">
            <a:solidFill>
              <a:srgbClr val="FFC277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4" name="AutoShape 4"/>
          <p:cNvSpPr/>
          <p:nvPr/>
        </p:nvSpPr>
        <p:spPr>
          <a:xfrm>
            <a:off x="876300" y="1384300"/>
            <a:ext cx="14490700" cy="7137400"/>
          </a:xfrm>
          <a:prstGeom prst="rect">
            <a:avLst/>
          </a:prstGeom>
          <a:solidFill>
            <a:srgbClr val="E1A862"/>
          </a:solidFill>
        </p:spPr>
        <p:txBody>
          <a:bodyPr/>
          <a:lstStyle/>
          <a:p>
            <a:endParaRPr lang="en-US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rcRect t="7000" b="7000"/>
          <a:stretch>
            <a:fillRect/>
          </a:stretch>
        </p:blipFill>
        <p:spPr>
          <a:xfrm>
            <a:off x="15570200" y="165100"/>
            <a:ext cx="469900" cy="4064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9900" y="1384300"/>
            <a:ext cx="12738100" cy="71374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876300" y="609600"/>
            <a:ext cx="14490700" cy="520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20000"/>
              </a:lnSpc>
              <a:defRPr/>
            </a:pPr>
            <a:r>
              <a:rPr lang="en-US" sz="3400" b="1" dirty="0">
                <a:solidFill>
                  <a:schemeClr val="accent6">
                    <a:lumMod val="75000"/>
                  </a:schemeClr>
                </a:solidFill>
                <a:latin typeface="Poppins"/>
              </a:rPr>
              <a:t>The Weak Link: Comparable Sales Trend</a:t>
            </a:r>
            <a:endParaRPr lang="en-US" sz="1100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D0A2C">
              <a:alpha val="74902"/>
            </a:srgbClr>
          </a:solidFill>
          <a:ln w="50800">
            <a:solidFill>
              <a:srgbClr val="FFC277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4" name="AutoShape 4"/>
          <p:cNvSpPr/>
          <p:nvPr/>
        </p:nvSpPr>
        <p:spPr>
          <a:xfrm>
            <a:off x="950106" y="1716788"/>
            <a:ext cx="14490700" cy="55372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/>
          <a:lstStyle/>
          <a:p>
            <a:endParaRPr lang="en-US"/>
          </a:p>
        </p:txBody>
      </p:sp>
      <p:sp>
        <p:nvSpPr>
          <p:cNvPr id="5" name="AutoShape 5"/>
          <p:cNvSpPr/>
          <p:nvPr/>
        </p:nvSpPr>
        <p:spPr>
          <a:xfrm>
            <a:off x="6731000" y="3619500"/>
            <a:ext cx="1257300" cy="1257300"/>
          </a:xfrm>
          <a:prstGeom prst="rect">
            <a:avLst/>
          </a:prstGeom>
          <a:solidFill>
            <a:srgbClr val="D49446"/>
          </a:solidFill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>
            <a:off x="8242300" y="3619500"/>
            <a:ext cx="1257300" cy="1257300"/>
          </a:xfrm>
          <a:prstGeom prst="rect">
            <a:avLst/>
          </a:prstGeom>
          <a:solidFill>
            <a:srgbClr val="D49446"/>
          </a:solidFill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8242300" y="5130800"/>
            <a:ext cx="1257300" cy="1257300"/>
          </a:xfrm>
          <a:prstGeom prst="rect">
            <a:avLst/>
          </a:prstGeom>
          <a:solidFill>
            <a:srgbClr val="D49446"/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AutoShape 8"/>
          <p:cNvSpPr/>
          <p:nvPr/>
        </p:nvSpPr>
        <p:spPr>
          <a:xfrm>
            <a:off x="6731000" y="5130800"/>
            <a:ext cx="1257300" cy="1257300"/>
          </a:xfrm>
          <a:prstGeom prst="rect">
            <a:avLst/>
          </a:prstGeom>
          <a:solidFill>
            <a:srgbClr val="D49446"/>
          </a:solidFill>
        </p:spPr>
        <p:txBody>
          <a:bodyPr/>
          <a:lstStyle/>
          <a:p>
            <a:endParaRPr lang="en-US"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5570200" y="190500"/>
            <a:ext cx="469900" cy="4699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858395" y="856051"/>
            <a:ext cx="14490700" cy="5969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20000"/>
              </a:lnSpc>
              <a:defRPr/>
            </a:pPr>
            <a:r>
              <a:rPr lang="en-US" sz="3900" b="1" dirty="0">
                <a:solidFill>
                  <a:schemeClr val="accent6">
                    <a:lumMod val="75000"/>
                  </a:schemeClr>
                </a:solidFill>
                <a:latin typeface="Poppins"/>
              </a:rPr>
              <a:t>Problem Statement:</a:t>
            </a:r>
            <a:endParaRPr lang="en-US" sz="11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776990" y="2393325"/>
            <a:ext cx="5600700" cy="4445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r">
              <a:lnSpc>
                <a:spcPct val="120000"/>
              </a:lnSpc>
              <a:defRPr/>
            </a:pPr>
            <a:r>
              <a:rPr lang="en-US" sz="2900" b="1" dirty="0">
                <a:solidFill>
                  <a:srgbClr val="100900"/>
                </a:solidFill>
                <a:latin typeface="Poppins"/>
              </a:rPr>
              <a:t>Observable Problem</a:t>
            </a:r>
            <a:endParaRPr lang="en-US" sz="1100" dirty="0"/>
          </a:p>
        </p:txBody>
      </p:sp>
      <p:sp>
        <p:nvSpPr>
          <p:cNvPr id="12" name="TextBox 12"/>
          <p:cNvSpPr txBox="1"/>
          <p:nvPr/>
        </p:nvSpPr>
        <p:spPr>
          <a:xfrm>
            <a:off x="9766300" y="2052194"/>
            <a:ext cx="5600700" cy="4445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20000"/>
              </a:lnSpc>
              <a:defRPr/>
            </a:pPr>
            <a:r>
              <a:rPr lang="en-US" sz="2900" b="1" dirty="0">
                <a:solidFill>
                  <a:srgbClr val="100900"/>
                </a:solidFill>
                <a:latin typeface="Poppins"/>
              </a:rPr>
              <a:t>Root Causes (External)</a:t>
            </a:r>
            <a:endParaRPr lang="en-US" sz="1100" dirty="0"/>
          </a:p>
        </p:txBody>
      </p:sp>
      <p:sp>
        <p:nvSpPr>
          <p:cNvPr id="13" name="TextBox 13"/>
          <p:cNvSpPr txBox="1"/>
          <p:nvPr/>
        </p:nvSpPr>
        <p:spPr>
          <a:xfrm>
            <a:off x="9788369" y="5075731"/>
            <a:ext cx="5600700" cy="4445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20000"/>
              </a:lnSpc>
              <a:defRPr/>
            </a:pPr>
            <a:r>
              <a:rPr lang="en-US" sz="2900" b="1" dirty="0">
                <a:solidFill>
                  <a:srgbClr val="100900"/>
                </a:solidFill>
                <a:latin typeface="Poppins"/>
              </a:rPr>
              <a:t>Intern Opportunity</a:t>
            </a:r>
            <a:endParaRPr lang="en-US" sz="1100" dirty="0"/>
          </a:p>
        </p:txBody>
      </p:sp>
      <p:sp>
        <p:nvSpPr>
          <p:cNvPr id="14" name="TextBox 14"/>
          <p:cNvSpPr txBox="1"/>
          <p:nvPr/>
        </p:nvSpPr>
        <p:spPr>
          <a:xfrm>
            <a:off x="767413" y="5418268"/>
            <a:ext cx="5600700" cy="4445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r">
              <a:lnSpc>
                <a:spcPct val="120000"/>
              </a:lnSpc>
              <a:defRPr/>
            </a:pPr>
            <a:r>
              <a:rPr lang="en-US" sz="2900" b="1" dirty="0">
                <a:solidFill>
                  <a:srgbClr val="100900"/>
                </a:solidFill>
                <a:latin typeface="Poppins"/>
              </a:rPr>
              <a:t>Impact Thesis</a:t>
            </a:r>
            <a:endParaRPr lang="en-US" sz="1100" dirty="0"/>
          </a:p>
        </p:txBody>
      </p:sp>
      <p:sp>
        <p:nvSpPr>
          <p:cNvPr id="15" name="TextBox 15"/>
          <p:cNvSpPr txBox="1"/>
          <p:nvPr/>
        </p:nvSpPr>
        <p:spPr>
          <a:xfrm>
            <a:off x="876300" y="3060700"/>
            <a:ext cx="5600700" cy="15113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r">
              <a:lnSpc>
                <a:spcPct val="150000"/>
              </a:lnSpc>
              <a:defRPr/>
            </a:pPr>
            <a:r>
              <a:rPr lang="en-US" sz="1900" b="1" dirty="0">
                <a:solidFill>
                  <a:srgbClr val="000000"/>
                </a:solidFill>
                <a:latin typeface="Poppins"/>
              </a:rPr>
              <a:t>Comparable sales have been inconsistent across recent years despite Home Depot’s strong overall revenue base.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766300" y="2605788"/>
            <a:ext cx="5600700" cy="18796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1900" b="1" dirty="0">
                <a:solidFill>
                  <a:srgbClr val="000000"/>
                </a:solidFill>
                <a:latin typeface="Poppins"/>
              </a:rPr>
              <a:t>Fewer storms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1900" b="1" dirty="0">
                <a:solidFill>
                  <a:srgbClr val="000000"/>
                </a:solidFill>
                <a:latin typeface="Poppins"/>
              </a:rPr>
              <a:t>sluggish housing turnover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1900" b="1" dirty="0">
                <a:solidFill>
                  <a:srgbClr val="000000"/>
                </a:solidFill>
                <a:latin typeface="Poppins"/>
              </a:rPr>
              <a:t>elevated mortgage rates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1900" b="1" dirty="0">
                <a:solidFill>
                  <a:srgbClr val="000000"/>
                </a:solidFill>
                <a:latin typeface="Poppins"/>
              </a:rPr>
              <a:t>consumer uncertainty</a:t>
            </a:r>
            <a:endParaRPr lang="en-US" sz="1100" dirty="0"/>
          </a:p>
        </p:txBody>
      </p:sp>
      <p:sp>
        <p:nvSpPr>
          <p:cNvPr id="17" name="TextBox 17"/>
          <p:cNvSpPr txBox="1"/>
          <p:nvPr/>
        </p:nvSpPr>
        <p:spPr>
          <a:xfrm>
            <a:off x="9840106" y="6390494"/>
            <a:ext cx="5600700" cy="1708774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900" dirty="0">
                <a:solidFill>
                  <a:srgbClr val="000000"/>
                </a:solidFill>
                <a:latin typeface="Poppins"/>
              </a:rPr>
              <a:t>As an intern, I can build a lightweight Resilience Scorecard that quantifies:</a:t>
            </a:r>
            <a:endParaRPr lang="en-US" dirty="0">
              <a:solidFill>
                <a:srgbClr val="000000"/>
              </a:solidFill>
              <a:latin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b="1" dirty="0">
                <a:solidFill>
                  <a:srgbClr val="000000"/>
                </a:solidFill>
                <a:latin typeface="Poppins"/>
              </a:rPr>
              <a:t>Which categories are stable or volatile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b="1" dirty="0">
                <a:solidFill>
                  <a:srgbClr val="000000"/>
                </a:solidFill>
                <a:latin typeface="Poppins"/>
              </a:rPr>
              <a:t>Which regions are more weather-sensitive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b="1" dirty="0">
                <a:solidFill>
                  <a:srgbClr val="000000"/>
                </a:solidFill>
                <a:latin typeface="Poppins"/>
              </a:rPr>
              <a:t>Which customer segments maintain steady demand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7946" y="6250066"/>
            <a:ext cx="5600700" cy="1708774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marL="342900" indent="-342900" algn="r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endParaRPr lang="en-US" sz="1900" b="1" dirty="0">
              <a:solidFill>
                <a:srgbClr val="000000"/>
              </a:solidFill>
              <a:latin typeface="Poppins"/>
            </a:endParaRPr>
          </a:p>
          <a:p>
            <a:pPr marL="342900" indent="-342900" algn="r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endParaRPr lang="en-US" sz="1900" b="1" dirty="0">
              <a:solidFill>
                <a:srgbClr val="000000"/>
              </a:solidFill>
              <a:latin typeface="Poppins"/>
            </a:endParaRPr>
          </a:p>
          <a:p>
            <a:pPr algn="r">
              <a:lnSpc>
                <a:spcPct val="150000"/>
              </a:lnSpc>
              <a:defRPr/>
            </a:pPr>
            <a:r>
              <a:rPr lang="en-US" sz="1900" dirty="0">
                <a:solidFill>
                  <a:srgbClr val="000000"/>
                </a:solidFill>
                <a:latin typeface="Poppins"/>
              </a:rPr>
              <a:t>Identify and strengthen the most resilient demand pockets:</a:t>
            </a:r>
          </a:p>
          <a:p>
            <a:pPr marL="342900" indent="-342900" algn="r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1900" b="1" dirty="0">
                <a:solidFill>
                  <a:srgbClr val="000000"/>
                </a:solidFill>
                <a:latin typeface="Poppins"/>
              </a:rPr>
              <a:t>Reduce comp volatility</a:t>
            </a:r>
          </a:p>
          <a:p>
            <a:pPr marL="342900" indent="-342900" algn="r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1900" b="1" dirty="0">
                <a:solidFill>
                  <a:srgbClr val="000000"/>
                </a:solidFill>
                <a:latin typeface="Poppins"/>
              </a:rPr>
              <a:t>Build more predictable sales performance</a:t>
            </a:r>
          </a:p>
          <a:p>
            <a:pPr marL="342900" indent="-342900" algn="r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1900" b="1" dirty="0">
                <a:solidFill>
                  <a:srgbClr val="000000"/>
                </a:solidFill>
                <a:latin typeface="Poppins"/>
              </a:rPr>
              <a:t>Soften the impact of external shocks</a:t>
            </a:r>
          </a:p>
          <a:p>
            <a:pPr indent="0" algn="r">
              <a:lnSpc>
                <a:spcPct val="150000"/>
              </a:lnSpc>
              <a:defRPr/>
            </a:pPr>
            <a:endParaRPr lang="en-US" sz="1900" b="1" dirty="0">
              <a:solidFill>
                <a:srgbClr val="000000"/>
              </a:solidFill>
              <a:latin typeface="Poppins"/>
            </a:endParaRPr>
          </a:p>
          <a:p>
            <a:pPr indent="0" algn="r">
              <a:lnSpc>
                <a:spcPct val="150000"/>
              </a:lnSpc>
              <a:defRPr/>
            </a:pPr>
            <a:endParaRPr lang="en-US" sz="1900" b="1" dirty="0">
              <a:solidFill>
                <a:srgbClr val="000000"/>
              </a:solidFill>
              <a:latin typeface="Poppins"/>
            </a:endParaR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7239000" y="4127500"/>
            <a:ext cx="241300" cy="2413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750300" y="4127500"/>
            <a:ext cx="241300" cy="2413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7"/>
          <a:srcRect l="14000" r="14000"/>
          <a:stretch>
            <a:fillRect/>
          </a:stretch>
        </p:blipFill>
        <p:spPr>
          <a:xfrm>
            <a:off x="8788400" y="5638800"/>
            <a:ext cx="177800" cy="2413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7239000" y="5638800"/>
            <a:ext cx="241300" cy="2413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D0A2C">
              <a:alpha val="74902"/>
            </a:srgbClr>
          </a:solidFill>
          <a:ln w="50800">
            <a:solidFill>
              <a:srgbClr val="FFC277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4" name="AutoShape 4"/>
          <p:cNvSpPr/>
          <p:nvPr/>
        </p:nvSpPr>
        <p:spPr>
          <a:xfrm>
            <a:off x="876300" y="1714500"/>
            <a:ext cx="14490700" cy="57658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/>
          <a:lstStyle/>
          <a:p>
            <a:endParaRPr lang="en-US"/>
          </a:p>
        </p:txBody>
      </p:sp>
      <p:sp>
        <p:nvSpPr>
          <p:cNvPr id="5" name="AutoShape 5"/>
          <p:cNvSpPr/>
          <p:nvPr/>
        </p:nvSpPr>
        <p:spPr>
          <a:xfrm>
            <a:off x="876300" y="1714500"/>
            <a:ext cx="4826000" cy="57658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>
            <a:off x="876300" y="1714500"/>
            <a:ext cx="4826000" cy="7874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5702300" y="1714500"/>
            <a:ext cx="4826000" cy="57658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AutoShape 8"/>
          <p:cNvSpPr/>
          <p:nvPr/>
        </p:nvSpPr>
        <p:spPr>
          <a:xfrm>
            <a:off x="5702300" y="1714500"/>
            <a:ext cx="4826000" cy="7874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AutoShape 9"/>
          <p:cNvSpPr/>
          <p:nvPr/>
        </p:nvSpPr>
        <p:spPr>
          <a:xfrm>
            <a:off x="10541000" y="1714500"/>
            <a:ext cx="4826000" cy="57658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/>
          <a:lstStyle/>
          <a:p>
            <a:endParaRPr lang="en-US"/>
          </a:p>
        </p:txBody>
      </p:sp>
      <p:sp>
        <p:nvSpPr>
          <p:cNvPr id="10" name="AutoShape 10"/>
          <p:cNvSpPr/>
          <p:nvPr/>
        </p:nvSpPr>
        <p:spPr>
          <a:xfrm>
            <a:off x="10541000" y="1714500"/>
            <a:ext cx="4826000" cy="7874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/>
          <a:lstStyle/>
          <a:p>
            <a:endParaRPr lang="en-US"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1714500"/>
            <a:ext cx="3810000" cy="7874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7600" y="1714500"/>
            <a:ext cx="3810000" cy="7874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6300" y="1714500"/>
            <a:ext cx="3810000" cy="7874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5"/>
          <a:srcRect t="11000" b="11000"/>
          <a:stretch>
            <a:fillRect/>
          </a:stretch>
        </p:blipFill>
        <p:spPr>
          <a:xfrm>
            <a:off x="15570200" y="152400"/>
            <a:ext cx="469900" cy="3683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876300" y="533400"/>
            <a:ext cx="14490700" cy="9398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20000"/>
              </a:lnSpc>
              <a:defRPr/>
            </a:pPr>
            <a:r>
              <a:rPr lang="en-US" sz="3100" b="1" dirty="0">
                <a:solidFill>
                  <a:schemeClr val="accent6">
                    <a:lumMod val="75000"/>
                  </a:schemeClr>
                </a:solidFill>
                <a:latin typeface="Poppins"/>
              </a:rPr>
              <a:t>Proposed Solution: Comparable Sales Resilience Scorecard</a:t>
            </a:r>
            <a:endParaRPr lang="en-US" sz="11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130300" y="2743200"/>
            <a:ext cx="4318000" cy="3556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20000"/>
              </a:lnSpc>
              <a:defRPr/>
            </a:pPr>
            <a:r>
              <a:rPr lang="en-US" sz="2300" b="1" dirty="0">
                <a:solidFill>
                  <a:srgbClr val="100900"/>
                </a:solidFill>
                <a:latin typeface="Poppins"/>
              </a:rPr>
              <a:t>Data Inputs</a:t>
            </a:r>
            <a:endParaRPr lang="en-US" sz="1100" dirty="0"/>
          </a:p>
        </p:txBody>
      </p:sp>
      <p:sp>
        <p:nvSpPr>
          <p:cNvPr id="17" name="TextBox 17"/>
          <p:cNvSpPr txBox="1"/>
          <p:nvPr/>
        </p:nvSpPr>
        <p:spPr>
          <a:xfrm>
            <a:off x="5956300" y="2743200"/>
            <a:ext cx="4318000" cy="3556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20000"/>
              </a:lnSpc>
              <a:defRPr/>
            </a:pPr>
            <a:r>
              <a:rPr lang="en-US" sz="2300" b="1">
                <a:solidFill>
                  <a:srgbClr val="100900"/>
                </a:solidFill>
                <a:latin typeface="Poppins"/>
              </a:rPr>
              <a:t>Analytics Engine</a:t>
            </a:r>
            <a:endParaRPr lang="en-US" sz="1100"/>
          </a:p>
        </p:txBody>
      </p:sp>
      <p:sp>
        <p:nvSpPr>
          <p:cNvPr id="18" name="TextBox 18"/>
          <p:cNvSpPr txBox="1"/>
          <p:nvPr/>
        </p:nvSpPr>
        <p:spPr>
          <a:xfrm>
            <a:off x="10795000" y="2743200"/>
            <a:ext cx="4318000" cy="3556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20000"/>
              </a:lnSpc>
              <a:defRPr/>
            </a:pPr>
            <a:r>
              <a:rPr lang="en-US" sz="2300" b="1">
                <a:solidFill>
                  <a:srgbClr val="100900"/>
                </a:solidFill>
                <a:latin typeface="Poppins"/>
              </a:rPr>
              <a:t>Outputs</a:t>
            </a:r>
            <a:endParaRPr lang="en-US" sz="1100"/>
          </a:p>
        </p:txBody>
      </p:sp>
      <p:sp>
        <p:nvSpPr>
          <p:cNvPr id="19" name="TextBox 19"/>
          <p:cNvSpPr txBox="1"/>
          <p:nvPr/>
        </p:nvSpPr>
        <p:spPr>
          <a:xfrm>
            <a:off x="1384300" y="3251200"/>
            <a:ext cx="4064000" cy="5842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>
              <a:lnSpc>
                <a:spcPct val="150000"/>
              </a:lnSpc>
              <a:defRPr/>
            </a:pPr>
            <a:r>
              <a:rPr lang="en-US" sz="1600" dirty="0">
                <a:latin typeface="Poppins" pitchFamily="2" charset="77"/>
                <a:cs typeface="Poppins" pitchFamily="2" charset="77"/>
              </a:rPr>
              <a:t>Weekly/monthly </a:t>
            </a:r>
            <a:r>
              <a:rPr lang="en-US" sz="1600" b="1" dirty="0">
                <a:solidFill>
                  <a:srgbClr val="100900"/>
                </a:solidFill>
                <a:latin typeface="Poppins" pitchFamily="2" charset="77"/>
                <a:cs typeface="Poppins" pitchFamily="2" charset="77"/>
              </a:rPr>
              <a:t>sales</a:t>
            </a:r>
            <a:r>
              <a:rPr lang="en-US" sz="1600" b="1" dirty="0">
                <a:latin typeface="Poppins" pitchFamily="2" charset="77"/>
                <a:cs typeface="Poppins" pitchFamily="2" charset="77"/>
              </a:rPr>
              <a:t> at store </a:t>
            </a:r>
            <a:r>
              <a:rPr lang="en-US" sz="1600" dirty="0">
                <a:latin typeface="Poppins" pitchFamily="2" charset="77"/>
                <a:cs typeface="Poppins" pitchFamily="2" charset="77"/>
              </a:rPr>
              <a:t>and region level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384300" y="4000500"/>
            <a:ext cx="4064000" cy="8890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>
              <a:lnSpc>
                <a:spcPct val="150000"/>
              </a:lnSpc>
              <a:defRPr/>
            </a:pPr>
            <a:r>
              <a:rPr lang="en-US" sz="1600" b="1" dirty="0">
                <a:latin typeface="Poppins" pitchFamily="2" charset="77"/>
                <a:cs typeface="Poppins" pitchFamily="2" charset="77"/>
              </a:rPr>
              <a:t>Comparable sales </a:t>
            </a:r>
            <a:r>
              <a:rPr lang="en-US" sz="1600" dirty="0">
                <a:latin typeface="Poppins" pitchFamily="2" charset="77"/>
                <a:cs typeface="Poppins" pitchFamily="2" charset="77"/>
              </a:rPr>
              <a:t>by category (roofing, lumber, consumables, paint, etc.)</a:t>
            </a:r>
            <a:endParaRPr lang="en-US" sz="1100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384300" y="5041900"/>
            <a:ext cx="4064000" cy="5842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>
              <a:lnSpc>
                <a:spcPct val="150000"/>
              </a:lnSpc>
              <a:defRPr/>
            </a:pPr>
            <a:r>
              <a:rPr lang="en-US" sz="1600" b="1" dirty="0">
                <a:latin typeface="Poppins" pitchFamily="2" charset="77"/>
                <a:cs typeface="Poppins" pitchFamily="2" charset="77"/>
              </a:rPr>
              <a:t>Indicators</a:t>
            </a:r>
            <a:r>
              <a:rPr lang="en-US" sz="1600" dirty="0">
                <a:latin typeface="Poppins" pitchFamily="2" charset="77"/>
                <a:cs typeface="Poppins" pitchFamily="2" charset="77"/>
              </a:rPr>
              <a:t> for storm-affected vs normal periods</a:t>
            </a:r>
            <a:endParaRPr lang="en-US" sz="1100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384300" y="5803900"/>
            <a:ext cx="4064000" cy="5842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>
              <a:lnSpc>
                <a:spcPct val="150000"/>
              </a:lnSpc>
              <a:defRPr/>
            </a:pPr>
            <a:r>
              <a:rPr lang="en-US" sz="1600" b="1" dirty="0">
                <a:latin typeface="Poppins" pitchFamily="2" charset="77"/>
                <a:cs typeface="Poppins" pitchFamily="2" charset="77"/>
              </a:rPr>
              <a:t>Channel mix</a:t>
            </a:r>
            <a:r>
              <a:rPr lang="en-US" sz="1600" dirty="0">
                <a:latin typeface="Poppins" pitchFamily="2" charset="77"/>
                <a:cs typeface="Poppins" pitchFamily="2" charset="77"/>
              </a:rPr>
              <a:t>: digital, in-store, Pro, and DIY</a:t>
            </a:r>
            <a:endParaRPr lang="en-US" sz="1100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6197600" y="3175000"/>
            <a:ext cx="4064000" cy="8890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>
              <a:lnSpc>
                <a:spcPct val="150000"/>
              </a:lnSpc>
              <a:defRPr/>
            </a:pPr>
            <a:r>
              <a:rPr lang="en-US" sz="1600" b="1" dirty="0">
                <a:latin typeface="Poppins" pitchFamily="2" charset="77"/>
                <a:cs typeface="Poppins" pitchFamily="2" charset="77"/>
              </a:rPr>
              <a:t>Volatility:</a:t>
            </a:r>
            <a:r>
              <a:rPr lang="en-US" sz="1600" dirty="0">
                <a:latin typeface="Poppins" pitchFamily="2" charset="77"/>
                <a:cs typeface="Poppins" pitchFamily="2" charset="77"/>
              </a:rPr>
              <a:t> rolling standard deviation of weekly comps by category</a:t>
            </a:r>
            <a:endParaRPr lang="en-US" sz="1100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6210300" y="4166434"/>
            <a:ext cx="4064000" cy="8890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>
              <a:lnSpc>
                <a:spcPct val="150000"/>
              </a:lnSpc>
              <a:defRPr/>
            </a:pPr>
            <a:r>
              <a:rPr lang="en-US" sz="1600" b="1" dirty="0">
                <a:latin typeface="Poppins" pitchFamily="2" charset="77"/>
                <a:cs typeface="Poppins" pitchFamily="2" charset="77"/>
              </a:rPr>
              <a:t>Recovery:</a:t>
            </a:r>
            <a:r>
              <a:rPr lang="en-US" sz="1600" dirty="0">
                <a:latin typeface="Poppins" pitchFamily="2" charset="77"/>
                <a:cs typeface="Poppins" pitchFamily="2" charset="77"/>
              </a:rPr>
              <a:t> how quickly categories rebound after macro or weather shocks</a:t>
            </a:r>
            <a:endParaRPr lang="en-US" sz="1100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6210300" y="5181600"/>
            <a:ext cx="4064000" cy="8890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>
              <a:lnSpc>
                <a:spcPct val="150000"/>
              </a:lnSpc>
              <a:defRPr/>
            </a:pPr>
            <a:r>
              <a:rPr lang="en-US" sz="1600" b="1" dirty="0">
                <a:latin typeface="Poppins" pitchFamily="2" charset="77"/>
                <a:cs typeface="Poppins" pitchFamily="2" charset="77"/>
              </a:rPr>
              <a:t>Digital mix:</a:t>
            </a:r>
            <a:r>
              <a:rPr lang="en-US" sz="1600" dirty="0">
                <a:latin typeface="Poppins" pitchFamily="2" charset="77"/>
                <a:cs typeface="Poppins" pitchFamily="2" charset="77"/>
              </a:rPr>
              <a:t> share of each category flowing through digital channels</a:t>
            </a:r>
            <a:endParaRPr lang="en-US" sz="1100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6197600" y="6250690"/>
            <a:ext cx="4064000" cy="8890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>
              <a:lnSpc>
                <a:spcPct val="150000"/>
              </a:lnSpc>
              <a:defRPr/>
            </a:pPr>
            <a:r>
              <a:rPr lang="en-US" sz="1600" b="1" dirty="0">
                <a:latin typeface="Poppins" pitchFamily="2" charset="77"/>
                <a:cs typeface="Poppins" pitchFamily="2" charset="77"/>
              </a:rPr>
              <a:t>Resilience Index:</a:t>
            </a:r>
            <a:r>
              <a:rPr lang="en-US" sz="1600" dirty="0">
                <a:latin typeface="Poppins" pitchFamily="2" charset="77"/>
                <a:cs typeface="Poppins" pitchFamily="2" charset="77"/>
              </a:rPr>
              <a:t> composite score blending volatility + recovery patterns</a:t>
            </a:r>
            <a:endParaRPr lang="en-US" sz="1100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1036300" y="3251200"/>
            <a:ext cx="4064000" cy="8890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>
              <a:lnSpc>
                <a:spcPct val="150000"/>
              </a:lnSpc>
              <a:defRPr/>
            </a:pPr>
            <a:r>
              <a:rPr lang="en-US" sz="1600" b="1" dirty="0">
                <a:latin typeface="Poppins" pitchFamily="2" charset="77"/>
                <a:cs typeface="Poppins" pitchFamily="2" charset="77"/>
              </a:rPr>
              <a:t>Category resilience scores</a:t>
            </a:r>
            <a:br>
              <a:rPr lang="en-US" sz="1600" dirty="0">
                <a:latin typeface="Poppins" pitchFamily="2" charset="77"/>
                <a:cs typeface="Poppins" pitchFamily="2" charset="77"/>
              </a:rPr>
            </a:br>
            <a:r>
              <a:rPr lang="en-US" sz="1600" dirty="0">
                <a:latin typeface="Poppins" pitchFamily="2" charset="77"/>
                <a:cs typeface="Poppins" pitchFamily="2" charset="77"/>
              </a:rPr>
              <a:t>(e.g., roofing = low resilience in no-storm periods; paint = high)</a:t>
            </a:r>
            <a:endParaRPr lang="en-US" sz="1100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11036300" y="4292600"/>
            <a:ext cx="4064000" cy="8890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>
              <a:lnSpc>
                <a:spcPct val="150000"/>
              </a:lnSpc>
              <a:defRPr/>
            </a:pPr>
            <a:r>
              <a:rPr lang="en-US" sz="1600" b="1" dirty="0">
                <a:latin typeface="Poppins" pitchFamily="2" charset="77"/>
                <a:cs typeface="Poppins" pitchFamily="2" charset="77"/>
              </a:rPr>
              <a:t>Regional vulnerability map</a:t>
            </a:r>
            <a:br>
              <a:rPr lang="en-US" sz="1600" dirty="0">
                <a:latin typeface="Poppins" pitchFamily="2" charset="77"/>
                <a:cs typeface="Poppins" pitchFamily="2" charset="77"/>
              </a:rPr>
            </a:br>
            <a:r>
              <a:rPr lang="en-US" sz="1600" dirty="0">
                <a:latin typeface="Poppins" pitchFamily="2" charset="77"/>
                <a:cs typeface="Poppins" pitchFamily="2" charset="77"/>
              </a:rPr>
              <a:t>highlighting weather-sensitive geographies</a:t>
            </a:r>
            <a:endParaRPr lang="en-US" sz="1100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11036300" y="5346700"/>
            <a:ext cx="4064000" cy="8890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>
              <a:lnSpc>
                <a:spcPct val="150000"/>
              </a:lnSpc>
              <a:defRPr/>
            </a:pPr>
            <a:r>
              <a:rPr lang="en-US" sz="1600" b="1" dirty="0">
                <a:latin typeface="Poppins" pitchFamily="2" charset="77"/>
                <a:cs typeface="Poppins" pitchFamily="2" charset="77"/>
              </a:rPr>
              <a:t>Actionable segments:</a:t>
            </a:r>
            <a:br>
              <a:rPr lang="en-US" sz="1600" dirty="0">
                <a:latin typeface="Poppins" pitchFamily="2" charset="77"/>
                <a:cs typeface="Poppins" pitchFamily="2" charset="77"/>
              </a:rPr>
            </a:br>
            <a:r>
              <a:rPr lang="en-US" sz="1600" dirty="0">
                <a:latin typeface="Poppins" pitchFamily="2" charset="77"/>
                <a:cs typeface="Poppins" pitchFamily="2" charset="77"/>
              </a:rPr>
              <a:t>“fragile but important” vs “inherently resilient” categories</a:t>
            </a:r>
            <a:endParaRPr lang="en-US" sz="1100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11036300" y="6388100"/>
            <a:ext cx="4064000" cy="8890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>
              <a:lnSpc>
                <a:spcPct val="150000"/>
              </a:lnSpc>
              <a:defRPr/>
            </a:pPr>
            <a:r>
              <a:rPr lang="en-US" sz="1600" b="1" dirty="0">
                <a:latin typeface="Poppins" pitchFamily="2" charset="77"/>
                <a:cs typeface="Poppins" pitchFamily="2" charset="77"/>
              </a:rPr>
              <a:t>Recommended playbooks:</a:t>
            </a:r>
            <a:br>
              <a:rPr lang="en-US" sz="1600" dirty="0">
                <a:latin typeface="Poppins" pitchFamily="2" charset="77"/>
                <a:cs typeface="Poppins" pitchFamily="2" charset="77"/>
              </a:rPr>
            </a:br>
            <a:r>
              <a:rPr lang="en-US" sz="1600" dirty="0">
                <a:latin typeface="Poppins" pitchFamily="2" charset="77"/>
                <a:cs typeface="Poppins" pitchFamily="2" charset="77"/>
              </a:rPr>
              <a:t>where to push promo, where to protect margin</a:t>
            </a:r>
            <a:endParaRPr lang="en-US" sz="1100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876300" y="7708900"/>
            <a:ext cx="14490700" cy="8890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500" b="1" dirty="0">
                <a:solidFill>
                  <a:srgbClr val="000000"/>
                </a:solidFill>
                <a:latin typeface="Poppins"/>
              </a:rPr>
              <a:t>This framework ties directly to Home Depot's strategic priorities: omnichannel optimization, Pro channel growth, and data-driven merchandising. </a:t>
            </a:r>
            <a:endParaRPr lang="en-US" sz="1100" dirty="0"/>
          </a:p>
        </p:txBody>
      </p:sp>
      <p:sp>
        <p:nvSpPr>
          <p:cNvPr id="32" name="TextBox 32"/>
          <p:cNvSpPr txBox="1"/>
          <p:nvPr/>
        </p:nvSpPr>
        <p:spPr>
          <a:xfrm>
            <a:off x="1003300" y="3289300"/>
            <a:ext cx="241300" cy="1905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algn="ctr">
              <a:lnSpc>
                <a:spcPct val="100000"/>
              </a:lnSpc>
              <a:defRPr/>
            </a:pPr>
            <a:r>
              <a:rPr lang="en-US" sz="1500" b="0">
                <a:solidFill>
                  <a:srgbClr val="000000"/>
                </a:solidFill>
                <a:highlight>
                  <a:srgbClr val="000000">
                    <a:alpha val="0"/>
                  </a:srgbClr>
                </a:highlight>
                <a:ea typeface="Poppins"/>
              </a:rPr>
              <a:t>●</a:t>
            </a:r>
            <a:endParaRPr lang="en-US" sz="1100"/>
          </a:p>
        </p:txBody>
      </p:sp>
      <p:sp>
        <p:nvSpPr>
          <p:cNvPr id="33" name="TextBox 33"/>
          <p:cNvSpPr txBox="1"/>
          <p:nvPr/>
        </p:nvSpPr>
        <p:spPr>
          <a:xfrm>
            <a:off x="1003300" y="4038600"/>
            <a:ext cx="241300" cy="1905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algn="ctr">
              <a:lnSpc>
                <a:spcPct val="100000"/>
              </a:lnSpc>
              <a:defRPr/>
            </a:pPr>
            <a:r>
              <a:rPr lang="en-US" sz="1500" b="0">
                <a:solidFill>
                  <a:srgbClr val="000000"/>
                </a:solidFill>
                <a:highlight>
                  <a:srgbClr val="000000">
                    <a:alpha val="0"/>
                  </a:srgbClr>
                </a:highlight>
                <a:ea typeface="Poppins"/>
              </a:rPr>
              <a:t>●</a:t>
            </a:r>
            <a:endParaRPr lang="en-US" sz="1100"/>
          </a:p>
        </p:txBody>
      </p:sp>
      <p:sp>
        <p:nvSpPr>
          <p:cNvPr id="34" name="TextBox 34"/>
          <p:cNvSpPr txBox="1"/>
          <p:nvPr/>
        </p:nvSpPr>
        <p:spPr>
          <a:xfrm>
            <a:off x="1003300" y="5092700"/>
            <a:ext cx="241300" cy="1905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algn="ctr">
              <a:lnSpc>
                <a:spcPct val="100000"/>
              </a:lnSpc>
              <a:defRPr/>
            </a:pPr>
            <a:r>
              <a:rPr lang="en-US" sz="1500" b="0">
                <a:solidFill>
                  <a:srgbClr val="000000"/>
                </a:solidFill>
                <a:highlight>
                  <a:srgbClr val="000000">
                    <a:alpha val="0"/>
                  </a:srgbClr>
                </a:highlight>
                <a:ea typeface="Poppins"/>
              </a:rPr>
              <a:t>●</a:t>
            </a:r>
            <a:endParaRPr lang="en-US" sz="1100"/>
          </a:p>
        </p:txBody>
      </p:sp>
      <p:sp>
        <p:nvSpPr>
          <p:cNvPr id="35" name="TextBox 35"/>
          <p:cNvSpPr txBox="1"/>
          <p:nvPr/>
        </p:nvSpPr>
        <p:spPr>
          <a:xfrm>
            <a:off x="1003300" y="5842000"/>
            <a:ext cx="241300" cy="1905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algn="ctr">
              <a:lnSpc>
                <a:spcPct val="100000"/>
              </a:lnSpc>
              <a:defRPr/>
            </a:pPr>
            <a:r>
              <a:rPr lang="en-US" sz="1500" b="0">
                <a:solidFill>
                  <a:srgbClr val="000000"/>
                </a:solidFill>
                <a:highlight>
                  <a:srgbClr val="000000">
                    <a:alpha val="0"/>
                  </a:srgbClr>
                </a:highlight>
                <a:ea typeface="Poppins"/>
              </a:rPr>
              <a:t>●</a:t>
            </a:r>
            <a:endParaRPr lang="en-US" sz="1100"/>
          </a:p>
        </p:txBody>
      </p:sp>
      <p:sp>
        <p:nvSpPr>
          <p:cNvPr id="36" name="TextBox 36"/>
          <p:cNvSpPr txBox="1"/>
          <p:nvPr/>
        </p:nvSpPr>
        <p:spPr>
          <a:xfrm>
            <a:off x="5829300" y="3289300"/>
            <a:ext cx="241300" cy="1905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algn="ctr">
              <a:lnSpc>
                <a:spcPct val="100000"/>
              </a:lnSpc>
              <a:defRPr/>
            </a:pPr>
            <a:r>
              <a:rPr lang="en-US" sz="1500" b="0">
                <a:solidFill>
                  <a:srgbClr val="000000"/>
                </a:solidFill>
                <a:highlight>
                  <a:srgbClr val="000000">
                    <a:alpha val="0"/>
                  </a:srgbClr>
                </a:highlight>
                <a:ea typeface="Poppins"/>
              </a:rPr>
              <a:t>●</a:t>
            </a:r>
            <a:endParaRPr lang="en-US" sz="1100"/>
          </a:p>
        </p:txBody>
      </p:sp>
      <p:sp>
        <p:nvSpPr>
          <p:cNvPr id="37" name="TextBox 37"/>
          <p:cNvSpPr txBox="1"/>
          <p:nvPr/>
        </p:nvSpPr>
        <p:spPr>
          <a:xfrm>
            <a:off x="5829300" y="4343400"/>
            <a:ext cx="241300" cy="1905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algn="ctr">
              <a:lnSpc>
                <a:spcPct val="100000"/>
              </a:lnSpc>
              <a:defRPr/>
            </a:pPr>
            <a:r>
              <a:rPr lang="en-US" sz="1500" b="0">
                <a:solidFill>
                  <a:srgbClr val="000000"/>
                </a:solidFill>
                <a:highlight>
                  <a:srgbClr val="000000">
                    <a:alpha val="0"/>
                  </a:srgbClr>
                </a:highlight>
                <a:ea typeface="Poppins"/>
              </a:rPr>
              <a:t>●</a:t>
            </a:r>
            <a:endParaRPr lang="en-US" sz="1100"/>
          </a:p>
        </p:txBody>
      </p:sp>
      <p:sp>
        <p:nvSpPr>
          <p:cNvPr id="38" name="TextBox 38"/>
          <p:cNvSpPr txBox="1"/>
          <p:nvPr/>
        </p:nvSpPr>
        <p:spPr>
          <a:xfrm>
            <a:off x="5829300" y="5384800"/>
            <a:ext cx="241300" cy="1905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algn="ctr">
              <a:lnSpc>
                <a:spcPct val="100000"/>
              </a:lnSpc>
              <a:defRPr/>
            </a:pPr>
            <a:r>
              <a:rPr lang="en-US" sz="1500" b="0">
                <a:solidFill>
                  <a:srgbClr val="000000"/>
                </a:solidFill>
                <a:highlight>
                  <a:srgbClr val="000000">
                    <a:alpha val="0"/>
                  </a:srgbClr>
                </a:highlight>
                <a:ea typeface="Poppins"/>
              </a:rPr>
              <a:t>●</a:t>
            </a:r>
            <a:endParaRPr lang="en-US" sz="1100"/>
          </a:p>
        </p:txBody>
      </p:sp>
      <p:sp>
        <p:nvSpPr>
          <p:cNvPr id="39" name="TextBox 39"/>
          <p:cNvSpPr txBox="1"/>
          <p:nvPr/>
        </p:nvSpPr>
        <p:spPr>
          <a:xfrm>
            <a:off x="5829300" y="6438900"/>
            <a:ext cx="241300" cy="1905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algn="ctr">
              <a:lnSpc>
                <a:spcPct val="100000"/>
              </a:lnSpc>
              <a:defRPr/>
            </a:pPr>
            <a:r>
              <a:rPr lang="en-US" sz="1500" b="0">
                <a:solidFill>
                  <a:srgbClr val="000000"/>
                </a:solidFill>
                <a:highlight>
                  <a:srgbClr val="000000">
                    <a:alpha val="0"/>
                  </a:srgbClr>
                </a:highlight>
                <a:ea typeface="Poppins"/>
              </a:rPr>
              <a:t>●</a:t>
            </a:r>
            <a:endParaRPr lang="en-US" sz="1100"/>
          </a:p>
        </p:txBody>
      </p:sp>
      <p:sp>
        <p:nvSpPr>
          <p:cNvPr id="40" name="TextBox 40"/>
          <p:cNvSpPr txBox="1"/>
          <p:nvPr/>
        </p:nvSpPr>
        <p:spPr>
          <a:xfrm>
            <a:off x="10668000" y="3289300"/>
            <a:ext cx="241300" cy="1905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algn="ctr">
              <a:lnSpc>
                <a:spcPct val="100000"/>
              </a:lnSpc>
              <a:defRPr/>
            </a:pPr>
            <a:r>
              <a:rPr lang="en-US" sz="1500" b="0">
                <a:solidFill>
                  <a:srgbClr val="000000"/>
                </a:solidFill>
                <a:highlight>
                  <a:srgbClr val="000000">
                    <a:alpha val="0"/>
                  </a:srgbClr>
                </a:highlight>
                <a:ea typeface="Poppins"/>
              </a:rPr>
              <a:t>●</a:t>
            </a:r>
            <a:endParaRPr lang="en-US" sz="1100"/>
          </a:p>
        </p:txBody>
      </p:sp>
      <p:sp>
        <p:nvSpPr>
          <p:cNvPr id="41" name="TextBox 41"/>
          <p:cNvSpPr txBox="1"/>
          <p:nvPr/>
        </p:nvSpPr>
        <p:spPr>
          <a:xfrm>
            <a:off x="10668000" y="4343400"/>
            <a:ext cx="241300" cy="1905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algn="ctr">
              <a:lnSpc>
                <a:spcPct val="100000"/>
              </a:lnSpc>
              <a:defRPr/>
            </a:pPr>
            <a:r>
              <a:rPr lang="en-US" sz="1500" b="0">
                <a:solidFill>
                  <a:srgbClr val="000000"/>
                </a:solidFill>
                <a:highlight>
                  <a:srgbClr val="000000">
                    <a:alpha val="0"/>
                  </a:srgbClr>
                </a:highlight>
                <a:ea typeface="Poppins"/>
              </a:rPr>
              <a:t>●</a:t>
            </a:r>
            <a:endParaRPr lang="en-US" sz="1100"/>
          </a:p>
        </p:txBody>
      </p:sp>
      <p:sp>
        <p:nvSpPr>
          <p:cNvPr id="42" name="TextBox 42"/>
          <p:cNvSpPr txBox="1"/>
          <p:nvPr/>
        </p:nvSpPr>
        <p:spPr>
          <a:xfrm>
            <a:off x="10668000" y="5384800"/>
            <a:ext cx="241300" cy="1905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algn="ctr">
              <a:lnSpc>
                <a:spcPct val="100000"/>
              </a:lnSpc>
              <a:defRPr/>
            </a:pPr>
            <a:r>
              <a:rPr lang="en-US" sz="1500" b="0">
                <a:solidFill>
                  <a:srgbClr val="000000"/>
                </a:solidFill>
                <a:highlight>
                  <a:srgbClr val="000000">
                    <a:alpha val="0"/>
                  </a:srgbClr>
                </a:highlight>
                <a:ea typeface="Poppins"/>
              </a:rPr>
              <a:t>●</a:t>
            </a:r>
            <a:endParaRPr lang="en-US" sz="1100"/>
          </a:p>
        </p:txBody>
      </p:sp>
      <p:sp>
        <p:nvSpPr>
          <p:cNvPr id="43" name="TextBox 43"/>
          <p:cNvSpPr txBox="1"/>
          <p:nvPr/>
        </p:nvSpPr>
        <p:spPr>
          <a:xfrm>
            <a:off x="10668000" y="6438900"/>
            <a:ext cx="241300" cy="1905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algn="ctr">
              <a:lnSpc>
                <a:spcPct val="100000"/>
              </a:lnSpc>
              <a:defRPr/>
            </a:pPr>
            <a:r>
              <a:rPr lang="en-US" sz="1500" b="0">
                <a:solidFill>
                  <a:srgbClr val="000000"/>
                </a:solidFill>
                <a:highlight>
                  <a:srgbClr val="000000">
                    <a:alpha val="0"/>
                  </a:srgbClr>
                </a:highlight>
                <a:ea typeface="Poppins"/>
              </a:rPr>
              <a:t>●</a:t>
            </a:r>
            <a:endParaRPr lang="en-US" sz="1100"/>
          </a:p>
        </p:txBody>
      </p:sp>
      <p:pic>
        <p:nvPicPr>
          <p:cNvPr id="44" name="Picture 44"/>
          <p:cNvPicPr>
            <a:picLocks noChangeAspect="1"/>
          </p:cNvPicPr>
          <p:nvPr/>
        </p:nvPicPr>
        <p:blipFill>
          <a:blip r:embed="rId6"/>
          <a:srcRect t="6000" b="6000"/>
          <a:stretch>
            <a:fillRect/>
          </a:stretch>
        </p:blipFill>
        <p:spPr>
          <a:xfrm>
            <a:off x="3175000" y="2006600"/>
            <a:ext cx="215900" cy="190500"/>
          </a:xfrm>
          <a:prstGeom prst="rect">
            <a:avLst/>
          </a:prstGeom>
        </p:spPr>
      </p:pic>
      <p:pic>
        <p:nvPicPr>
          <p:cNvPr id="45" name="Picture 45"/>
          <p:cNvPicPr>
            <a:picLocks noChangeAspect="1"/>
          </p:cNvPicPr>
          <p:nvPr/>
        </p:nvPicPr>
        <p:blipFill>
          <a:blip r:embed="rId7"/>
          <a:srcRect t="11000" b="11000"/>
          <a:stretch>
            <a:fillRect/>
          </a:stretch>
        </p:blipFill>
        <p:spPr>
          <a:xfrm>
            <a:off x="8001000" y="2006600"/>
            <a:ext cx="241300" cy="190500"/>
          </a:xfrm>
          <a:prstGeom prst="rect">
            <a:avLst/>
          </a:prstGeom>
        </p:spPr>
      </p:pic>
      <p:pic>
        <p:nvPicPr>
          <p:cNvPr id="46" name="Picture 46"/>
          <p:cNvPicPr>
            <a:picLocks noChangeAspect="1"/>
          </p:cNvPicPr>
          <p:nvPr/>
        </p:nvPicPr>
        <p:blipFill>
          <a:blip r:embed="rId8"/>
          <a:srcRect t="11000" b="11000"/>
          <a:stretch>
            <a:fillRect/>
          </a:stretch>
        </p:blipFill>
        <p:spPr>
          <a:xfrm>
            <a:off x="12827000" y="2006600"/>
            <a:ext cx="241300" cy="190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D0A2C">
              <a:alpha val="74902"/>
            </a:srgbClr>
          </a:solidFill>
          <a:ln w="50800">
            <a:solidFill>
              <a:srgbClr val="FFC277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2700"/>
            <a:ext cx="16256000" cy="9144000"/>
          </a:xfrm>
          <a:prstGeom prst="rect">
            <a:avLst/>
          </a:prstGeom>
        </p:spPr>
      </p:pic>
      <p:sp>
        <p:nvSpPr>
          <p:cNvPr id="4" name="AutoShape 4"/>
          <p:cNvSpPr/>
          <p:nvPr/>
        </p:nvSpPr>
        <p:spPr>
          <a:xfrm>
            <a:off x="876300" y="1041400"/>
            <a:ext cx="14490700" cy="71882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/>
          <a:lstStyle/>
          <a:p>
            <a:endParaRPr lang="en-US"/>
          </a:p>
        </p:txBody>
      </p:sp>
      <p:sp>
        <p:nvSpPr>
          <p:cNvPr id="5" name="AutoShape 5"/>
          <p:cNvSpPr/>
          <p:nvPr/>
        </p:nvSpPr>
        <p:spPr>
          <a:xfrm>
            <a:off x="876300" y="1041400"/>
            <a:ext cx="3584939" cy="5969000"/>
          </a:xfrm>
          <a:prstGeom prst="rect">
            <a:avLst/>
          </a:prstGeom>
          <a:solidFill>
            <a:srgbClr val="E1A862"/>
          </a:solidFill>
        </p:spPr>
        <p:txBody>
          <a:bodyPr/>
          <a:lstStyle/>
          <a:p>
            <a:endParaRPr lang="en-US" dirty="0"/>
          </a:p>
        </p:txBody>
      </p:sp>
      <p:sp>
        <p:nvSpPr>
          <p:cNvPr id="6" name="AutoShape 6"/>
          <p:cNvSpPr/>
          <p:nvPr/>
        </p:nvSpPr>
        <p:spPr>
          <a:xfrm>
            <a:off x="1079631" y="1193800"/>
            <a:ext cx="520438" cy="495300"/>
          </a:xfrm>
          <a:prstGeom prst="roundRect">
            <a:avLst>
              <a:gd name="adj" fmla="val 48717"/>
            </a:avLst>
          </a:prstGeom>
          <a:solidFill>
            <a:srgbClr val="A37135"/>
          </a:solidFill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4692962" y="1054100"/>
            <a:ext cx="3584939" cy="5956300"/>
          </a:xfrm>
          <a:prstGeom prst="rect">
            <a:avLst/>
          </a:prstGeom>
          <a:solidFill>
            <a:srgbClr val="E1A862"/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AutoShape 8"/>
          <p:cNvSpPr/>
          <p:nvPr/>
        </p:nvSpPr>
        <p:spPr>
          <a:xfrm>
            <a:off x="4901731" y="1206500"/>
            <a:ext cx="495300" cy="495300"/>
          </a:xfrm>
          <a:prstGeom prst="roundRect">
            <a:avLst>
              <a:gd name="adj" fmla="val 48717"/>
            </a:avLst>
          </a:prstGeom>
          <a:solidFill>
            <a:srgbClr val="A37135"/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AutoShape 9"/>
          <p:cNvSpPr/>
          <p:nvPr/>
        </p:nvSpPr>
        <p:spPr>
          <a:xfrm>
            <a:off x="8482393" y="1054100"/>
            <a:ext cx="3633292" cy="5956300"/>
          </a:xfrm>
          <a:prstGeom prst="rect">
            <a:avLst/>
          </a:prstGeom>
          <a:solidFill>
            <a:srgbClr val="E1A862"/>
          </a:solidFill>
        </p:spPr>
        <p:txBody>
          <a:bodyPr/>
          <a:lstStyle/>
          <a:p>
            <a:endParaRPr lang="en-US"/>
          </a:p>
        </p:txBody>
      </p:sp>
      <p:sp>
        <p:nvSpPr>
          <p:cNvPr id="10" name="AutoShape 10"/>
          <p:cNvSpPr/>
          <p:nvPr/>
        </p:nvSpPr>
        <p:spPr>
          <a:xfrm>
            <a:off x="8777819" y="1206500"/>
            <a:ext cx="495300" cy="495300"/>
          </a:xfrm>
          <a:prstGeom prst="roundRect">
            <a:avLst>
              <a:gd name="adj" fmla="val 48717"/>
            </a:avLst>
          </a:prstGeom>
          <a:solidFill>
            <a:srgbClr val="A37135"/>
          </a:solidFill>
        </p:spPr>
        <p:txBody>
          <a:bodyPr/>
          <a:lstStyle/>
          <a:p>
            <a:endParaRPr lang="en-US"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4"/>
          <a:srcRect t="18000" b="18000"/>
          <a:stretch>
            <a:fillRect/>
          </a:stretch>
        </p:blipFill>
        <p:spPr>
          <a:xfrm>
            <a:off x="15570200" y="127000"/>
            <a:ext cx="469900" cy="3048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876300" y="457200"/>
            <a:ext cx="14490700" cy="393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20000"/>
              </a:lnSpc>
              <a:defRPr/>
            </a:pPr>
            <a:r>
              <a:rPr lang="en-US" sz="2600" b="1" dirty="0">
                <a:solidFill>
                  <a:schemeClr val="accent6">
                    <a:lumMod val="75000"/>
                  </a:schemeClr>
                </a:solidFill>
                <a:latin typeface="Poppins"/>
              </a:rPr>
              <a:t>Technical Background: Relevant Past Work</a:t>
            </a:r>
            <a:endParaRPr lang="en-US" sz="11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765457" y="1219199"/>
            <a:ext cx="2476343" cy="1067599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2000" b="1" dirty="0">
                <a:latin typeface="Poppins" pitchFamily="2" charset="77"/>
                <a:cs typeface="Poppins" pitchFamily="2" charset="77"/>
              </a:rPr>
              <a:t>Time-Series Forecasting &amp; Volatility Modeling</a:t>
            </a:r>
            <a:endParaRPr lang="en-US" sz="1100" b="1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684916" y="1206500"/>
            <a:ext cx="2581823" cy="6731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2000" b="1" dirty="0">
                <a:latin typeface="Poppins" pitchFamily="2" charset="77"/>
                <a:cs typeface="Poppins" pitchFamily="2" charset="77"/>
              </a:rPr>
              <a:t>Predictive Ranking &amp; Data Pipelines</a:t>
            </a:r>
            <a:endParaRPr lang="en-US" sz="1100" b="1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9442639" y="1118849"/>
            <a:ext cx="2394023" cy="7493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2000" b="1" dirty="0">
                <a:latin typeface="Poppins" pitchFamily="2" charset="77"/>
                <a:cs typeface="Poppins" pitchFamily="2" charset="77"/>
              </a:rPr>
              <a:t>Classification + Routing Systems</a:t>
            </a:r>
            <a:endParaRPr lang="en-US" sz="1100" b="1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5092897" y="3150398"/>
            <a:ext cx="2951346" cy="3961602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b="1" dirty="0">
                <a:latin typeface="Poppins" pitchFamily="2" charset="77"/>
                <a:cs typeface="Poppins" pitchFamily="2" charset="77"/>
              </a:rPr>
              <a:t>NSB Data Science Intern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900" dirty="0">
              <a:latin typeface="Poppins" pitchFamily="2" charset="77"/>
              <a:cs typeface="Poppins" pitchFamily="2" charset="7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Poppins" pitchFamily="2" charset="77"/>
                <a:cs typeface="Poppins" pitchFamily="2" charset="77"/>
              </a:rPr>
              <a:t>Cleaned large, messy datasets using SQL, Pandas, </a:t>
            </a:r>
            <a:r>
              <a:rPr lang="en-US" sz="1400" dirty="0" err="1">
                <a:latin typeface="Poppins" pitchFamily="2" charset="77"/>
                <a:cs typeface="Poppins" pitchFamily="2" charset="77"/>
              </a:rPr>
              <a:t>PySpark</a:t>
            </a:r>
            <a:endParaRPr lang="en-US" sz="1400" dirty="0">
              <a:latin typeface="Poppins" pitchFamily="2" charset="77"/>
              <a:cs typeface="Poppins" pitchFamily="2" charset="77"/>
            </a:endParaRPr>
          </a:p>
          <a:p>
            <a:pPr>
              <a:lnSpc>
                <a:spcPct val="150000"/>
              </a:lnSpc>
            </a:pPr>
            <a:endParaRPr lang="en-US" sz="1400" dirty="0">
              <a:latin typeface="Poppins" pitchFamily="2" charset="77"/>
              <a:cs typeface="Poppins" pitchFamily="2" charset="7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Poppins" pitchFamily="2" charset="77"/>
                <a:cs typeface="Poppins" pitchFamily="2" charset="77"/>
              </a:rPr>
              <a:t>Built Random Forest / </a:t>
            </a:r>
            <a:r>
              <a:rPr lang="en-US" sz="1400" dirty="0" err="1">
                <a:latin typeface="Poppins" pitchFamily="2" charset="77"/>
                <a:cs typeface="Poppins" pitchFamily="2" charset="77"/>
              </a:rPr>
              <a:t>XGBoost</a:t>
            </a:r>
            <a:r>
              <a:rPr lang="en-US" sz="1400" dirty="0">
                <a:latin typeface="Poppins" pitchFamily="2" charset="77"/>
                <a:cs typeface="Poppins" pitchFamily="2" charset="77"/>
              </a:rPr>
              <a:t> ranking model to prioritize high-value items</a:t>
            </a:r>
          </a:p>
          <a:p>
            <a:pPr>
              <a:lnSpc>
                <a:spcPct val="150000"/>
              </a:lnSpc>
            </a:pPr>
            <a:endParaRPr lang="en-US" sz="1400" dirty="0">
              <a:latin typeface="Poppins" pitchFamily="2" charset="77"/>
              <a:cs typeface="Poppins" pitchFamily="2" charset="7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Poppins" pitchFamily="2" charset="77"/>
                <a:cs typeface="Poppins" pitchFamily="2" charset="77"/>
              </a:rPr>
              <a:t>Delivered reproducible pipelines using Docker, GitHub Actions, </a:t>
            </a:r>
            <a:r>
              <a:rPr lang="en-US" sz="1400" dirty="0" err="1">
                <a:latin typeface="Poppins" pitchFamily="2" charset="77"/>
                <a:cs typeface="Poppins" pitchFamily="2" charset="77"/>
              </a:rPr>
              <a:t>DevContainers</a:t>
            </a:r>
            <a:endParaRPr lang="en-US" sz="1400" dirty="0">
              <a:latin typeface="Poppins" pitchFamily="2" charset="77"/>
              <a:cs typeface="Poppins" pitchFamily="2" charset="7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dirty="0">
              <a:latin typeface="Poppins" pitchFamily="2" charset="77"/>
              <a:cs typeface="Poppins" pitchFamily="2" charset="7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dirty="0">
              <a:latin typeface="Poppins" pitchFamily="2" charset="77"/>
              <a:cs typeface="Poppins" pitchFamily="2" charset="77"/>
            </a:endParaRPr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Poppins" pitchFamily="2" charset="77"/>
                <a:cs typeface="Poppins" pitchFamily="2" charset="77"/>
              </a:rPr>
              <a:t>https://</a:t>
            </a:r>
            <a:r>
              <a:rPr lang="en-US" sz="1400" dirty="0" err="1">
                <a:solidFill>
                  <a:schemeClr val="accent6">
                    <a:lumMod val="75000"/>
                  </a:schemeClr>
                </a:solidFill>
                <a:latin typeface="Poppins" pitchFamily="2" charset="77"/>
                <a:cs typeface="Poppins" pitchFamily="2" charset="77"/>
              </a:rPr>
              <a:t>github.com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Poppins" pitchFamily="2" charset="77"/>
                <a:cs typeface="Poppins" pitchFamily="2" charset="77"/>
              </a:rPr>
              <a:t>/</a:t>
            </a:r>
            <a:r>
              <a:rPr lang="en-US" sz="1400" dirty="0" err="1">
                <a:solidFill>
                  <a:schemeClr val="accent6">
                    <a:lumMod val="75000"/>
                  </a:schemeClr>
                </a:solidFill>
                <a:latin typeface="Poppins" pitchFamily="2" charset="77"/>
                <a:cs typeface="Poppins" pitchFamily="2" charset="77"/>
              </a:rPr>
              <a:t>BrynnZhang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Poppins" pitchFamily="2" charset="77"/>
                <a:cs typeface="Poppins" pitchFamily="2" charset="77"/>
              </a:rPr>
              <a:t>/NSB-Amazon-and-bot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920543" y="3156028"/>
            <a:ext cx="2806438" cy="2590002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b="1" dirty="0">
                <a:latin typeface="Poppins" pitchFamily="2" charset="77"/>
                <a:cs typeface="Poppins" pitchFamily="2" charset="77"/>
              </a:rPr>
              <a:t>Mental Health LLM Safety Pipeline</a:t>
            </a:r>
          </a:p>
          <a:p>
            <a:pPr>
              <a:lnSpc>
                <a:spcPct val="150000"/>
              </a:lnSpc>
            </a:pPr>
            <a:endParaRPr lang="en-US" sz="600" dirty="0">
              <a:latin typeface="Poppins" pitchFamily="2" charset="77"/>
              <a:cs typeface="Poppins" pitchFamily="2" charset="7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Poppins" pitchFamily="2" charset="77"/>
                <a:cs typeface="Poppins" pitchFamily="2" charset="77"/>
              </a:rPr>
              <a:t>Developed multi-class </a:t>
            </a:r>
            <a:r>
              <a:rPr lang="en-US" sz="1400" dirty="0" err="1">
                <a:latin typeface="Poppins" pitchFamily="2" charset="77"/>
                <a:cs typeface="Poppins" pitchFamily="2" charset="77"/>
              </a:rPr>
              <a:t>DistilBERT</a:t>
            </a:r>
            <a:r>
              <a:rPr lang="en-US" sz="1400" dirty="0">
                <a:latin typeface="Poppins" pitchFamily="2" charset="77"/>
                <a:cs typeface="Poppins" pitchFamily="2" charset="77"/>
              </a:rPr>
              <a:t> classifier for risk detection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dirty="0">
              <a:latin typeface="Poppins" pitchFamily="2" charset="77"/>
              <a:cs typeface="Poppins" pitchFamily="2" charset="7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Poppins" pitchFamily="2" charset="77"/>
                <a:cs typeface="Poppins" pitchFamily="2" charset="77"/>
              </a:rPr>
              <a:t>Implemented routing logic to trigger different actions based on risk tier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dirty="0">
              <a:latin typeface="Poppins" pitchFamily="2" charset="77"/>
              <a:cs typeface="Poppins" pitchFamily="2" charset="7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Poppins" pitchFamily="2" charset="77"/>
                <a:cs typeface="Poppins" pitchFamily="2" charset="77"/>
              </a:rPr>
              <a:t>Built scalable APIs with transformers, </a:t>
            </a:r>
            <a:r>
              <a:rPr lang="en-US" sz="1400" dirty="0" err="1">
                <a:latin typeface="Poppins" pitchFamily="2" charset="77"/>
                <a:cs typeface="Poppins" pitchFamily="2" charset="77"/>
              </a:rPr>
              <a:t>LoRA</a:t>
            </a:r>
            <a:r>
              <a:rPr lang="en-US" sz="1400" dirty="0">
                <a:latin typeface="Poppins" pitchFamily="2" charset="77"/>
                <a:cs typeface="Poppins" pitchFamily="2" charset="77"/>
              </a:rPr>
              <a:t> tuning, Flask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03300" y="4330700"/>
            <a:ext cx="241300" cy="1651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algn="ctr">
              <a:lnSpc>
                <a:spcPct val="100000"/>
              </a:lnSpc>
              <a:defRPr/>
            </a:pPr>
            <a:endParaRPr lang="en-US" sz="1100" dirty="0"/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5"/>
          <a:srcRect t="16000" b="16000"/>
          <a:stretch>
            <a:fillRect/>
          </a:stretch>
        </p:blipFill>
        <p:spPr>
          <a:xfrm>
            <a:off x="1217637" y="1369462"/>
            <a:ext cx="244425" cy="167238"/>
          </a:xfrm>
          <a:prstGeom prst="rect">
            <a:avLst/>
          </a:prstGeom>
        </p:spPr>
      </p:pic>
      <p:pic>
        <p:nvPicPr>
          <p:cNvPr id="42" name="Picture 42"/>
          <p:cNvPicPr>
            <a:picLocks noChangeAspect="1"/>
          </p:cNvPicPr>
          <p:nvPr/>
        </p:nvPicPr>
        <p:blipFill>
          <a:blip r:embed="rId6"/>
          <a:srcRect t="16000" b="16000"/>
          <a:stretch>
            <a:fillRect/>
          </a:stretch>
        </p:blipFill>
        <p:spPr>
          <a:xfrm>
            <a:off x="5028731" y="1371600"/>
            <a:ext cx="241300" cy="165100"/>
          </a:xfrm>
          <a:prstGeom prst="rect">
            <a:avLst/>
          </a:prstGeom>
        </p:spPr>
      </p:pic>
      <p:pic>
        <p:nvPicPr>
          <p:cNvPr id="43" name="Picture 43"/>
          <p:cNvPicPr>
            <a:picLocks noChangeAspect="1"/>
          </p:cNvPicPr>
          <p:nvPr/>
        </p:nvPicPr>
        <p:blipFill>
          <a:blip r:embed="rId7"/>
          <a:srcRect t="23000" b="23000"/>
          <a:stretch>
            <a:fillRect/>
          </a:stretch>
        </p:blipFill>
        <p:spPr>
          <a:xfrm>
            <a:off x="8873569" y="1355645"/>
            <a:ext cx="334255" cy="181055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F625BEA1-48B1-CBC3-9B06-6F2AA206486B}"/>
              </a:ext>
            </a:extLst>
          </p:cNvPr>
          <p:cNvSpPr txBox="1"/>
          <p:nvPr/>
        </p:nvSpPr>
        <p:spPr>
          <a:xfrm>
            <a:off x="1118224" y="2450801"/>
            <a:ext cx="3200713" cy="58400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Poppins" pitchFamily="2" charset="77"/>
                <a:cs typeface="Poppins" pitchFamily="2" charset="77"/>
              </a:rPr>
              <a:t>Stealth Quant Intern</a:t>
            </a:r>
          </a:p>
          <a:p>
            <a:pPr>
              <a:lnSpc>
                <a:spcPct val="150000"/>
              </a:lnSpc>
            </a:pPr>
            <a:endParaRPr lang="en-US" sz="900" dirty="0">
              <a:latin typeface="Poppins" pitchFamily="2" charset="77"/>
              <a:cs typeface="Poppins" pitchFamily="2" charset="7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Poppins" pitchFamily="2" charset="77"/>
                <a:cs typeface="Poppins" pitchFamily="2" charset="77"/>
              </a:rPr>
              <a:t>Built ARIMA, Exponential Smoothing, and </a:t>
            </a:r>
            <a:r>
              <a:rPr lang="en-US" sz="1400" dirty="0" err="1">
                <a:latin typeface="Poppins" pitchFamily="2" charset="77"/>
                <a:cs typeface="Poppins" pitchFamily="2" charset="77"/>
              </a:rPr>
              <a:t>PyTorch</a:t>
            </a:r>
            <a:r>
              <a:rPr lang="en-US" sz="1400" dirty="0">
                <a:latin typeface="Poppins" pitchFamily="2" charset="77"/>
                <a:cs typeface="Poppins" pitchFamily="2" charset="77"/>
              </a:rPr>
              <a:t> forecasting models</a:t>
            </a:r>
          </a:p>
          <a:p>
            <a:pPr>
              <a:lnSpc>
                <a:spcPct val="150000"/>
              </a:lnSpc>
            </a:pPr>
            <a:endParaRPr lang="en-US" sz="1400" dirty="0">
              <a:latin typeface="Poppins" pitchFamily="2" charset="77"/>
              <a:cs typeface="Poppins" pitchFamily="2" charset="7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Poppins" pitchFamily="2" charset="77"/>
                <a:cs typeface="Poppins" pitchFamily="2" charset="77"/>
              </a:rPr>
              <a:t>Performed rolling-window volatility analysis and seasonality detection</a:t>
            </a:r>
          </a:p>
          <a:p>
            <a:pPr>
              <a:lnSpc>
                <a:spcPct val="150000"/>
              </a:lnSpc>
            </a:pPr>
            <a:endParaRPr lang="en-US" sz="1400" dirty="0">
              <a:latin typeface="Poppins" pitchFamily="2" charset="77"/>
              <a:cs typeface="Poppins" pitchFamily="2" charset="7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Poppins" pitchFamily="2" charset="77"/>
                <a:cs typeface="Poppins" pitchFamily="2" charset="77"/>
              </a:rPr>
              <a:t>Designed </a:t>
            </a:r>
            <a:r>
              <a:rPr lang="en-US" sz="1400" dirty="0" err="1">
                <a:latin typeface="Poppins" pitchFamily="2" charset="77"/>
                <a:cs typeface="Poppins" pitchFamily="2" charset="77"/>
              </a:rPr>
              <a:t>MLflow</a:t>
            </a:r>
            <a:r>
              <a:rPr lang="en-US" sz="1400" dirty="0">
                <a:latin typeface="Poppins" pitchFamily="2" charset="77"/>
                <a:cs typeface="Poppins" pitchFamily="2" charset="77"/>
              </a:rPr>
              <a:t> A/B testing to compare model stability under different conditions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dirty="0">
              <a:latin typeface="Poppins" pitchFamily="2" charset="77"/>
              <a:cs typeface="Poppins" pitchFamily="2" charset="7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dirty="0">
              <a:latin typeface="Poppins" pitchFamily="2" charset="77"/>
              <a:cs typeface="Poppins" pitchFamily="2" charset="77"/>
            </a:endParaRPr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Poppins" pitchFamily="2" charset="77"/>
                <a:cs typeface="Poppins" pitchFamily="2" charset="77"/>
              </a:rPr>
              <a:t>https://</a:t>
            </a:r>
            <a:r>
              <a:rPr lang="en-US" sz="1400" dirty="0" err="1">
                <a:solidFill>
                  <a:schemeClr val="accent6">
                    <a:lumMod val="75000"/>
                  </a:schemeClr>
                </a:solidFill>
                <a:latin typeface="Poppins" pitchFamily="2" charset="77"/>
                <a:cs typeface="Poppins" pitchFamily="2" charset="77"/>
              </a:rPr>
              <a:t>github.com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Poppins" pitchFamily="2" charset="77"/>
                <a:cs typeface="Poppins" pitchFamily="2" charset="77"/>
              </a:rPr>
              <a:t>/</a:t>
            </a:r>
            <a:r>
              <a:rPr lang="en-US" sz="1400" dirty="0" err="1">
                <a:solidFill>
                  <a:schemeClr val="accent6">
                    <a:lumMod val="75000"/>
                  </a:schemeClr>
                </a:solidFill>
                <a:latin typeface="Poppins" pitchFamily="2" charset="77"/>
                <a:cs typeface="Poppins" pitchFamily="2" charset="77"/>
              </a:rPr>
              <a:t>BrynnZhang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Poppins" pitchFamily="2" charset="77"/>
                <a:cs typeface="Poppins" pitchFamily="2" charset="77"/>
              </a:rPr>
              <a:t>/Stealth</a:t>
            </a:r>
          </a:p>
          <a:p>
            <a:endParaRPr lang="en-US" dirty="0"/>
          </a:p>
        </p:txBody>
      </p:sp>
      <p:sp>
        <p:nvSpPr>
          <p:cNvPr id="45" name="AutoShape 9">
            <a:extLst>
              <a:ext uri="{FF2B5EF4-FFF2-40B4-BE49-F238E27FC236}">
                <a16:creationId xmlns:a16="http://schemas.microsoft.com/office/drawing/2014/main" id="{BDC59240-C323-03CC-2FF2-7C45D36172B0}"/>
              </a:ext>
            </a:extLst>
          </p:cNvPr>
          <p:cNvSpPr/>
          <p:nvPr/>
        </p:nvSpPr>
        <p:spPr>
          <a:xfrm>
            <a:off x="12370566" y="1041401"/>
            <a:ext cx="3409496" cy="5956300"/>
          </a:xfrm>
          <a:prstGeom prst="rect">
            <a:avLst/>
          </a:prstGeom>
          <a:solidFill>
            <a:srgbClr val="E1A862"/>
          </a:solidFill>
        </p:spPr>
        <p:txBody>
          <a:bodyPr/>
          <a:lstStyle/>
          <a:p>
            <a:endParaRPr lang="en-US" dirty="0"/>
          </a:p>
        </p:txBody>
      </p:sp>
      <p:sp>
        <p:nvSpPr>
          <p:cNvPr id="47" name="AutoShape 6">
            <a:extLst>
              <a:ext uri="{FF2B5EF4-FFF2-40B4-BE49-F238E27FC236}">
                <a16:creationId xmlns:a16="http://schemas.microsoft.com/office/drawing/2014/main" id="{83529A8C-B0B7-EBBA-EEF0-2439D9D1AB9D}"/>
              </a:ext>
            </a:extLst>
          </p:cNvPr>
          <p:cNvSpPr/>
          <p:nvPr/>
        </p:nvSpPr>
        <p:spPr>
          <a:xfrm>
            <a:off x="12471547" y="1212851"/>
            <a:ext cx="520438" cy="495300"/>
          </a:xfrm>
          <a:prstGeom prst="roundRect">
            <a:avLst>
              <a:gd name="adj" fmla="val 48717"/>
            </a:avLst>
          </a:prstGeom>
          <a:solidFill>
            <a:srgbClr val="A37135"/>
          </a:solidFill>
        </p:spPr>
        <p:txBody>
          <a:bodyPr/>
          <a:lstStyle/>
          <a:p>
            <a:endParaRPr lang="en-US"/>
          </a:p>
        </p:txBody>
      </p:sp>
      <p:pic>
        <p:nvPicPr>
          <p:cNvPr id="46" name="Picture 41">
            <a:extLst>
              <a:ext uri="{FF2B5EF4-FFF2-40B4-BE49-F238E27FC236}">
                <a16:creationId xmlns:a16="http://schemas.microsoft.com/office/drawing/2014/main" id="{A5D1251B-BE4A-F498-57F1-09C20E074D3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6000" b="16000"/>
          <a:stretch>
            <a:fillRect/>
          </a:stretch>
        </p:blipFill>
        <p:spPr>
          <a:xfrm>
            <a:off x="12617560" y="1385624"/>
            <a:ext cx="244425" cy="167238"/>
          </a:xfrm>
          <a:prstGeom prst="rect">
            <a:avLst/>
          </a:prstGeom>
        </p:spPr>
      </p:pic>
      <p:sp>
        <p:nvSpPr>
          <p:cNvPr id="48" name="TextBox 15">
            <a:extLst>
              <a:ext uri="{FF2B5EF4-FFF2-40B4-BE49-F238E27FC236}">
                <a16:creationId xmlns:a16="http://schemas.microsoft.com/office/drawing/2014/main" id="{4A69446F-B6C4-B8BE-2097-F27A356779C9}"/>
              </a:ext>
            </a:extLst>
          </p:cNvPr>
          <p:cNvSpPr txBox="1"/>
          <p:nvPr/>
        </p:nvSpPr>
        <p:spPr>
          <a:xfrm>
            <a:off x="13204700" y="1181518"/>
            <a:ext cx="2394023" cy="7493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>
              <a:lnSpc>
                <a:spcPct val="120000"/>
              </a:lnSpc>
              <a:defRPr/>
            </a:pPr>
            <a:r>
              <a:rPr lang="en-US" sz="2400" b="1" dirty="0"/>
              <a:t>Operational Decision Engines</a:t>
            </a:r>
            <a:endParaRPr lang="en-US" sz="1200" b="1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49" name="TextBox 24">
            <a:extLst>
              <a:ext uri="{FF2B5EF4-FFF2-40B4-BE49-F238E27FC236}">
                <a16:creationId xmlns:a16="http://schemas.microsoft.com/office/drawing/2014/main" id="{0FBCA6BC-534B-4B11-CF4F-FEA732A45947}"/>
              </a:ext>
            </a:extLst>
          </p:cNvPr>
          <p:cNvSpPr txBox="1"/>
          <p:nvPr/>
        </p:nvSpPr>
        <p:spPr>
          <a:xfrm>
            <a:off x="12731766" y="4007024"/>
            <a:ext cx="2806438" cy="2590002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b="1" dirty="0">
                <a:latin typeface="Poppins" pitchFamily="2" charset="77"/>
                <a:cs typeface="Poppins" pitchFamily="2" charset="77"/>
              </a:rPr>
              <a:t>NYU Law — Algorithmic Scheduling Project</a:t>
            </a:r>
          </a:p>
          <a:p>
            <a:pPr>
              <a:lnSpc>
                <a:spcPct val="150000"/>
              </a:lnSpc>
            </a:pPr>
            <a:endParaRPr lang="en-US" sz="1400" b="1" dirty="0">
              <a:latin typeface="Poppins" pitchFamily="2" charset="77"/>
              <a:cs typeface="Poppins" pitchFamily="2" charset="7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Poppins" pitchFamily="2" charset="77"/>
                <a:cs typeface="Poppins" pitchFamily="2" charset="77"/>
              </a:rPr>
              <a:t>Created dynamic programming + Gale–Shapley matching system</a:t>
            </a:r>
          </a:p>
          <a:p>
            <a:pPr>
              <a:lnSpc>
                <a:spcPct val="150000"/>
              </a:lnSpc>
            </a:pPr>
            <a:endParaRPr lang="en-US" sz="1400" dirty="0">
              <a:latin typeface="Poppins" pitchFamily="2" charset="77"/>
              <a:cs typeface="Poppins" pitchFamily="2" charset="7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Poppins" pitchFamily="2" charset="77"/>
                <a:cs typeface="Poppins" pitchFamily="2" charset="77"/>
              </a:rPr>
              <a:t>Reduced manual workload 60%, improved efficiency 22%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dirty="0">
              <a:latin typeface="Poppins" pitchFamily="2" charset="77"/>
              <a:cs typeface="Poppins" pitchFamily="2" charset="7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dirty="0">
              <a:latin typeface="Poppins" pitchFamily="2" charset="77"/>
              <a:cs typeface="Poppins" pitchFamily="2" charset="7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dirty="0">
              <a:latin typeface="Poppins" pitchFamily="2" charset="77"/>
              <a:cs typeface="Poppins" pitchFamily="2" charset="7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dirty="0">
              <a:latin typeface="Poppins" pitchFamily="2" charset="77"/>
              <a:cs typeface="Poppins" pitchFamily="2" charset="7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dirty="0">
              <a:latin typeface="Poppins" pitchFamily="2" charset="77"/>
              <a:cs typeface="Poppins" pitchFamily="2" charset="77"/>
            </a:endParaRPr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Poppins" pitchFamily="2" charset="77"/>
                <a:cs typeface="Poppins" pitchFamily="2" charset="77"/>
              </a:rPr>
              <a:t>https://</a:t>
            </a:r>
            <a:r>
              <a:rPr lang="en-US" sz="1400" dirty="0" err="1">
                <a:solidFill>
                  <a:schemeClr val="accent6">
                    <a:lumMod val="75000"/>
                  </a:schemeClr>
                </a:solidFill>
                <a:latin typeface="Poppins" pitchFamily="2" charset="77"/>
                <a:cs typeface="Poppins" pitchFamily="2" charset="77"/>
              </a:rPr>
              <a:t>github.com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Poppins" pitchFamily="2" charset="77"/>
                <a:cs typeface="Poppins" pitchFamily="2" charset="77"/>
              </a:rPr>
              <a:t>/</a:t>
            </a:r>
            <a:r>
              <a:rPr lang="en-US" sz="1400" dirty="0" err="1">
                <a:solidFill>
                  <a:schemeClr val="accent6">
                    <a:lumMod val="75000"/>
                  </a:schemeClr>
                </a:solidFill>
                <a:latin typeface="Poppins" pitchFamily="2" charset="77"/>
                <a:cs typeface="Poppins" pitchFamily="2" charset="77"/>
              </a:rPr>
              <a:t>BrynnZhang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Poppins" pitchFamily="2" charset="77"/>
                <a:cs typeface="Poppins" pitchFamily="2" charset="77"/>
              </a:rPr>
              <a:t>/scheduling-system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dirty="0">
              <a:latin typeface="Poppins" pitchFamily="2" charset="77"/>
              <a:cs typeface="Poppins" pitchFamily="2" charset="77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3">
            <a:extLst>
              <a:ext uri="{FF2B5EF4-FFF2-40B4-BE49-F238E27FC236}">
                <a16:creationId xmlns:a16="http://schemas.microsoft.com/office/drawing/2014/main" id="{EFDF6D45-9729-4F15-1291-9E9D5FC375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7AE247F-D725-73E0-571D-B02B79AAFC10}"/>
              </a:ext>
            </a:extLst>
          </p:cNvPr>
          <p:cNvSpPr txBox="1"/>
          <p:nvPr/>
        </p:nvSpPr>
        <p:spPr>
          <a:xfrm>
            <a:off x="1041400" y="1829708"/>
            <a:ext cx="14325600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latin typeface="Poppins" pitchFamily="2" charset="77"/>
                <a:cs typeface="Poppins" pitchFamily="2" charset="77"/>
              </a:rPr>
              <a:t>🔶</a:t>
            </a:r>
            <a:r>
              <a:rPr lang="en-US" sz="3600" dirty="0">
                <a:latin typeface="Poppins" pitchFamily="2" charset="77"/>
                <a:cs typeface="Poppins" pitchFamily="2" charset="77"/>
              </a:rPr>
              <a:t>Python, SQL, Pandas, Polars, </a:t>
            </a:r>
            <a:r>
              <a:rPr lang="en-US" sz="3600" dirty="0" err="1">
                <a:latin typeface="Poppins" pitchFamily="2" charset="77"/>
                <a:cs typeface="Poppins" pitchFamily="2" charset="77"/>
              </a:rPr>
              <a:t>PySpark</a:t>
            </a:r>
            <a:endParaRPr lang="en-US" sz="3600" dirty="0">
              <a:latin typeface="Poppins" pitchFamily="2" charset="77"/>
              <a:cs typeface="Poppins" pitchFamily="2" charset="77"/>
            </a:endParaRPr>
          </a:p>
          <a:p>
            <a:endParaRPr lang="en-US" sz="3600" dirty="0">
              <a:latin typeface="Poppins" pitchFamily="2" charset="77"/>
              <a:cs typeface="Poppins" pitchFamily="2" charset="77"/>
            </a:endParaRPr>
          </a:p>
          <a:p>
            <a:r>
              <a:rPr lang="en-US" sz="3600" b="1" dirty="0">
                <a:latin typeface="Poppins" pitchFamily="2" charset="77"/>
                <a:cs typeface="Poppins" pitchFamily="2" charset="77"/>
              </a:rPr>
              <a:t>🔶 Finance Modeling, </a:t>
            </a:r>
            <a:r>
              <a:rPr lang="en-US" sz="3600" dirty="0">
                <a:latin typeface="Poppins" pitchFamily="2" charset="77"/>
                <a:cs typeface="Poppins" pitchFamily="2" charset="77"/>
              </a:rPr>
              <a:t>Forecasting, anomaly detection, time-series analysis</a:t>
            </a:r>
          </a:p>
          <a:p>
            <a:endParaRPr lang="en-US" sz="3600" dirty="0">
              <a:latin typeface="Poppins" pitchFamily="2" charset="77"/>
              <a:cs typeface="Poppins" pitchFamily="2" charset="77"/>
            </a:endParaRPr>
          </a:p>
          <a:p>
            <a:r>
              <a:rPr lang="en-US" sz="3600" b="1" dirty="0">
                <a:latin typeface="Poppins" pitchFamily="2" charset="77"/>
                <a:cs typeface="Poppins" pitchFamily="2" charset="77"/>
              </a:rPr>
              <a:t>🔶 </a:t>
            </a:r>
            <a:r>
              <a:rPr lang="en-US" sz="3600" dirty="0" err="1">
                <a:latin typeface="Poppins" pitchFamily="2" charset="77"/>
                <a:cs typeface="Poppins" pitchFamily="2" charset="77"/>
              </a:rPr>
              <a:t>MLflow</a:t>
            </a:r>
            <a:r>
              <a:rPr lang="en-US" sz="3600" dirty="0">
                <a:latin typeface="Poppins" pitchFamily="2" charset="77"/>
                <a:cs typeface="Poppins" pitchFamily="2" charset="77"/>
              </a:rPr>
              <a:t>, scikit-learn, Transformers, Flask, Docker</a:t>
            </a:r>
          </a:p>
          <a:p>
            <a:endParaRPr lang="en-US" sz="3600" dirty="0">
              <a:latin typeface="Poppins" pitchFamily="2" charset="77"/>
              <a:cs typeface="Poppins" pitchFamily="2" charset="77"/>
            </a:endParaRPr>
          </a:p>
          <a:p>
            <a:r>
              <a:rPr lang="en-US" sz="3600" b="1" dirty="0">
                <a:latin typeface="Poppins" pitchFamily="2" charset="77"/>
                <a:cs typeface="Poppins" pitchFamily="2" charset="77"/>
              </a:rPr>
              <a:t>🔶 </a:t>
            </a:r>
            <a:r>
              <a:rPr lang="en-US" sz="3600" dirty="0" err="1">
                <a:latin typeface="Poppins" pitchFamily="2" charset="77"/>
                <a:cs typeface="Poppins" pitchFamily="2" charset="77"/>
              </a:rPr>
              <a:t>Jupyter</a:t>
            </a:r>
            <a:r>
              <a:rPr lang="en-US" sz="3600" dirty="0">
                <a:latin typeface="Poppins" pitchFamily="2" charset="77"/>
                <a:cs typeface="Poppins" pitchFamily="2" charset="77"/>
              </a:rPr>
              <a:t>, Git, A/B testing, dashboarding (</a:t>
            </a:r>
            <a:r>
              <a:rPr lang="en-US" sz="3600" b="1" dirty="0">
                <a:latin typeface="Poppins" pitchFamily="2" charset="77"/>
                <a:cs typeface="Poppins" pitchFamily="2" charset="77"/>
              </a:rPr>
              <a:t>Excel </a:t>
            </a:r>
            <a:r>
              <a:rPr lang="en-US" sz="3600" dirty="0">
                <a:latin typeface="Poppins" pitchFamily="2" charset="77"/>
                <a:cs typeface="Poppins" pitchFamily="2" charset="77"/>
              </a:rPr>
              <a:t>+ Python)</a:t>
            </a:r>
          </a:p>
          <a:p>
            <a:endParaRPr lang="en-US" sz="2000" dirty="0">
              <a:latin typeface="Poppins" pitchFamily="2" charset="77"/>
              <a:cs typeface="Poppins" pitchFamily="2" charset="77"/>
            </a:endParaRPr>
          </a:p>
          <a:p>
            <a:endParaRPr lang="en-US" sz="3200" dirty="0">
              <a:latin typeface="Poppins" pitchFamily="2" charset="77"/>
              <a:cs typeface="Poppins" pitchFamily="2" charset="77"/>
            </a:endParaRPr>
          </a:p>
          <a:p>
            <a:r>
              <a:rPr lang="en-US" sz="3600" dirty="0" err="1">
                <a:latin typeface="Poppins" pitchFamily="2" charset="77"/>
                <a:cs typeface="Poppins" pitchFamily="2" charset="77"/>
              </a:rPr>
              <a:t>Linkedin</a:t>
            </a:r>
            <a:r>
              <a:rPr lang="en-US" sz="3600" dirty="0">
                <a:latin typeface="Poppins" pitchFamily="2" charset="77"/>
                <a:cs typeface="Poppins" pitchFamily="2" charset="77"/>
              </a:rPr>
              <a:t>: </a:t>
            </a:r>
            <a:r>
              <a:rPr lang="en-US" dirty="0">
                <a:latin typeface="Poppins" pitchFamily="2" charset="77"/>
                <a:cs typeface="Poppins" pitchFamily="2" charset="77"/>
              </a:rPr>
              <a:t>https://</a:t>
            </a:r>
            <a:r>
              <a:rPr lang="en-US" dirty="0" err="1">
                <a:latin typeface="Poppins" pitchFamily="2" charset="77"/>
                <a:cs typeface="Poppins" pitchFamily="2" charset="77"/>
              </a:rPr>
              <a:t>www.linkedin.com</a:t>
            </a:r>
            <a:r>
              <a:rPr lang="en-US" dirty="0">
                <a:latin typeface="Poppins" pitchFamily="2" charset="77"/>
                <a:cs typeface="Poppins" pitchFamily="2" charset="77"/>
              </a:rPr>
              <a:t>/in/chuhan-zhang-5845a1237/</a:t>
            </a:r>
          </a:p>
          <a:p>
            <a:r>
              <a:rPr lang="en-US" sz="3600" dirty="0" err="1">
                <a:latin typeface="Poppins" pitchFamily="2" charset="77"/>
                <a:cs typeface="Poppins" pitchFamily="2" charset="77"/>
              </a:rPr>
              <a:t>Github</a:t>
            </a:r>
            <a:r>
              <a:rPr lang="en-US" sz="3600" dirty="0">
                <a:latin typeface="Poppins" pitchFamily="2" charset="77"/>
                <a:cs typeface="Poppins" pitchFamily="2" charset="77"/>
              </a:rPr>
              <a:t>: </a:t>
            </a:r>
            <a:r>
              <a:rPr lang="en-US" dirty="0">
                <a:latin typeface="Poppins" pitchFamily="2" charset="77"/>
                <a:cs typeface="Poppins" pitchFamily="2" charset="77"/>
              </a:rPr>
              <a:t>https://</a:t>
            </a:r>
            <a:r>
              <a:rPr lang="en-US" dirty="0" err="1">
                <a:latin typeface="Poppins" pitchFamily="2" charset="77"/>
                <a:cs typeface="Poppins" pitchFamily="2" charset="77"/>
              </a:rPr>
              <a:t>github.com</a:t>
            </a:r>
            <a:r>
              <a:rPr lang="en-US" dirty="0">
                <a:latin typeface="Poppins" pitchFamily="2" charset="77"/>
                <a:cs typeface="Poppins" pitchFamily="2" charset="77"/>
              </a:rPr>
              <a:t>/</a:t>
            </a:r>
            <a:r>
              <a:rPr lang="en-US" dirty="0" err="1">
                <a:latin typeface="Poppins" pitchFamily="2" charset="77"/>
                <a:cs typeface="Poppins" pitchFamily="2" charset="77"/>
              </a:rPr>
              <a:t>BrynnZhang</a:t>
            </a:r>
            <a:endParaRPr lang="en-US" dirty="0">
              <a:latin typeface="Poppins" pitchFamily="2" charset="77"/>
              <a:cs typeface="Poppins" pitchFamily="2" charset="77"/>
            </a:endParaRPr>
          </a:p>
          <a:p>
            <a:endParaRPr lang="en-US" sz="3600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1A506477-9281-BC7D-A4DC-868E74B1F7A5}"/>
              </a:ext>
            </a:extLst>
          </p:cNvPr>
          <p:cNvSpPr txBox="1"/>
          <p:nvPr/>
        </p:nvSpPr>
        <p:spPr>
          <a:xfrm>
            <a:off x="876300" y="588884"/>
            <a:ext cx="14490700" cy="393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20000"/>
              </a:lnSpc>
              <a:defRPr/>
            </a:pPr>
            <a:r>
              <a:rPr lang="en-US" sz="4000" b="1" dirty="0">
                <a:solidFill>
                  <a:schemeClr val="accent6">
                    <a:lumMod val="75000"/>
                  </a:schemeClr>
                </a:solidFill>
                <a:latin typeface="Poppins"/>
              </a:rPr>
              <a:t>Technical Skillset (aligned to the internship)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0336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D0A2C">
              <a:alpha val="74902"/>
            </a:srgbClr>
          </a:solidFill>
          <a:ln w="50800">
            <a:solidFill>
              <a:srgbClr val="FFC277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4" name="AutoShape 4"/>
          <p:cNvSpPr/>
          <p:nvPr/>
        </p:nvSpPr>
        <p:spPr>
          <a:xfrm>
            <a:off x="876300" y="1358900"/>
            <a:ext cx="14490700" cy="60325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/>
          <a:lstStyle/>
          <a:p>
            <a:endParaRPr lang="en-US"/>
          </a:p>
        </p:txBody>
      </p:sp>
      <p:sp>
        <p:nvSpPr>
          <p:cNvPr id="5" name="AutoShape 5"/>
          <p:cNvSpPr/>
          <p:nvPr/>
        </p:nvSpPr>
        <p:spPr>
          <a:xfrm>
            <a:off x="876300" y="1600200"/>
            <a:ext cx="14490700" cy="12700"/>
          </a:xfrm>
          <a:prstGeom prst="rect">
            <a:avLst/>
          </a:prstGeom>
          <a:solidFill>
            <a:srgbClr val="BA8039"/>
          </a:solidFill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>
            <a:off x="876300" y="1358900"/>
            <a:ext cx="4610100" cy="60325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2908300" y="1358900"/>
            <a:ext cx="558800" cy="482600"/>
          </a:xfrm>
          <a:prstGeom prst="rect">
            <a:avLst/>
          </a:prstGeom>
          <a:solidFill>
            <a:srgbClr val="D49446"/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AutoShape 8"/>
          <p:cNvSpPr/>
          <p:nvPr/>
        </p:nvSpPr>
        <p:spPr>
          <a:xfrm>
            <a:off x="3175000" y="1600200"/>
            <a:ext cx="12700" cy="647700"/>
          </a:xfrm>
          <a:prstGeom prst="rect">
            <a:avLst/>
          </a:prstGeom>
          <a:solidFill>
            <a:srgbClr val="BA8039"/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AutoShape 9"/>
          <p:cNvSpPr/>
          <p:nvPr/>
        </p:nvSpPr>
        <p:spPr>
          <a:xfrm>
            <a:off x="1130300" y="2413000"/>
            <a:ext cx="4114800" cy="48133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/>
          <a:lstStyle/>
          <a:p>
            <a:endParaRPr lang="en-US"/>
          </a:p>
        </p:txBody>
      </p:sp>
      <p:sp>
        <p:nvSpPr>
          <p:cNvPr id="10" name="AutoShape 10"/>
          <p:cNvSpPr/>
          <p:nvPr/>
        </p:nvSpPr>
        <p:spPr>
          <a:xfrm>
            <a:off x="5816600" y="1358900"/>
            <a:ext cx="4610100" cy="60325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/>
          <a:lstStyle/>
          <a:p>
            <a:endParaRPr lang="en-US"/>
          </a:p>
        </p:txBody>
      </p:sp>
      <p:sp>
        <p:nvSpPr>
          <p:cNvPr id="11" name="AutoShape 11"/>
          <p:cNvSpPr/>
          <p:nvPr/>
        </p:nvSpPr>
        <p:spPr>
          <a:xfrm>
            <a:off x="7835900" y="1358900"/>
            <a:ext cx="558800" cy="482600"/>
          </a:xfrm>
          <a:prstGeom prst="rect">
            <a:avLst/>
          </a:prstGeom>
          <a:solidFill>
            <a:srgbClr val="D49446"/>
          </a:solidFill>
        </p:spPr>
        <p:txBody>
          <a:bodyPr/>
          <a:lstStyle/>
          <a:p>
            <a:endParaRPr lang="en-US"/>
          </a:p>
        </p:txBody>
      </p:sp>
      <p:sp>
        <p:nvSpPr>
          <p:cNvPr id="12" name="AutoShape 12"/>
          <p:cNvSpPr/>
          <p:nvPr/>
        </p:nvSpPr>
        <p:spPr>
          <a:xfrm>
            <a:off x="8102600" y="1600200"/>
            <a:ext cx="12700" cy="647700"/>
          </a:xfrm>
          <a:prstGeom prst="rect">
            <a:avLst/>
          </a:prstGeom>
          <a:solidFill>
            <a:srgbClr val="BA8039"/>
          </a:solidFill>
        </p:spPr>
        <p:txBody>
          <a:bodyPr/>
          <a:lstStyle/>
          <a:p>
            <a:endParaRPr lang="en-US"/>
          </a:p>
        </p:txBody>
      </p:sp>
      <p:sp>
        <p:nvSpPr>
          <p:cNvPr id="13" name="AutoShape 13"/>
          <p:cNvSpPr/>
          <p:nvPr/>
        </p:nvSpPr>
        <p:spPr>
          <a:xfrm>
            <a:off x="6057900" y="2413000"/>
            <a:ext cx="4114800" cy="49784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>
            <a:off x="10744200" y="1358900"/>
            <a:ext cx="4610100" cy="60325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/>
          <a:lstStyle/>
          <a:p>
            <a:endParaRPr lang="en-US"/>
          </a:p>
        </p:txBody>
      </p:sp>
      <p:sp>
        <p:nvSpPr>
          <p:cNvPr id="15" name="AutoShape 15"/>
          <p:cNvSpPr/>
          <p:nvPr/>
        </p:nvSpPr>
        <p:spPr>
          <a:xfrm>
            <a:off x="12776200" y="1358900"/>
            <a:ext cx="558800" cy="482600"/>
          </a:xfrm>
          <a:prstGeom prst="rect">
            <a:avLst/>
          </a:prstGeom>
          <a:solidFill>
            <a:srgbClr val="D49446"/>
          </a:solidFill>
        </p:spPr>
        <p:txBody>
          <a:bodyPr/>
          <a:lstStyle/>
          <a:p>
            <a:endParaRPr lang="en-US"/>
          </a:p>
        </p:txBody>
      </p:sp>
      <p:sp>
        <p:nvSpPr>
          <p:cNvPr id="16" name="AutoShape 16"/>
          <p:cNvSpPr/>
          <p:nvPr/>
        </p:nvSpPr>
        <p:spPr>
          <a:xfrm>
            <a:off x="13042900" y="1600200"/>
            <a:ext cx="12700" cy="647700"/>
          </a:xfrm>
          <a:prstGeom prst="rect">
            <a:avLst/>
          </a:prstGeom>
          <a:solidFill>
            <a:srgbClr val="BA8039"/>
          </a:solidFill>
        </p:spPr>
        <p:txBody>
          <a:bodyPr/>
          <a:lstStyle/>
          <a:p>
            <a:endParaRPr lang="en-US"/>
          </a:p>
        </p:txBody>
      </p:sp>
      <p:sp>
        <p:nvSpPr>
          <p:cNvPr id="17" name="AutoShape 17"/>
          <p:cNvSpPr/>
          <p:nvPr/>
        </p:nvSpPr>
        <p:spPr>
          <a:xfrm>
            <a:off x="10998200" y="2413000"/>
            <a:ext cx="4114800" cy="44831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/>
          <a:lstStyle/>
          <a:p>
            <a:endParaRPr lang="en-US"/>
          </a:p>
        </p:txBody>
      </p:sp>
      <p:sp>
        <p:nvSpPr>
          <p:cNvPr id="18" name="AutoShape 18"/>
          <p:cNvSpPr/>
          <p:nvPr/>
        </p:nvSpPr>
        <p:spPr>
          <a:xfrm>
            <a:off x="876300" y="7645400"/>
            <a:ext cx="12700" cy="647700"/>
          </a:xfrm>
          <a:prstGeom prst="rect">
            <a:avLst/>
          </a:prstGeom>
          <a:solidFill>
            <a:srgbClr val="D49446"/>
          </a:solidFill>
        </p:spPr>
        <p:txBody>
          <a:bodyPr/>
          <a:lstStyle/>
          <a:p>
            <a:endParaRPr lang="en-US"/>
          </a:p>
        </p:txBody>
      </p:sp>
      <p:sp>
        <p:nvSpPr>
          <p:cNvPr id="19" name="TextBox 19"/>
          <p:cNvSpPr txBox="1"/>
          <p:nvPr/>
        </p:nvSpPr>
        <p:spPr>
          <a:xfrm>
            <a:off x="876300" y="596900"/>
            <a:ext cx="14490700" cy="520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20000"/>
              </a:lnSpc>
              <a:defRPr/>
            </a:pPr>
            <a:r>
              <a:rPr lang="en-US" sz="3400" b="1" dirty="0">
                <a:solidFill>
                  <a:schemeClr val="accent6">
                    <a:lumMod val="75000"/>
                  </a:schemeClr>
                </a:solidFill>
                <a:latin typeface="Poppins"/>
              </a:rPr>
              <a:t>Deliverables: (What I Can Do)</a:t>
            </a:r>
            <a:endParaRPr lang="en-US" sz="11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130300" y="2413000"/>
            <a:ext cx="4114800" cy="3810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ctr">
              <a:lnSpc>
                <a:spcPct val="120000"/>
              </a:lnSpc>
              <a:defRPr/>
            </a:pPr>
            <a:r>
              <a:rPr lang="en-US" sz="2500" b="1" dirty="0">
                <a:solidFill>
                  <a:srgbClr val="100900"/>
                </a:solidFill>
                <a:latin typeface="Poppins"/>
              </a:rPr>
              <a:t>Phase 1:</a:t>
            </a:r>
            <a:endParaRPr lang="en-US" sz="1100" dirty="0"/>
          </a:p>
        </p:txBody>
      </p:sp>
      <p:sp>
        <p:nvSpPr>
          <p:cNvPr id="21" name="TextBox 21"/>
          <p:cNvSpPr txBox="1"/>
          <p:nvPr/>
        </p:nvSpPr>
        <p:spPr>
          <a:xfrm>
            <a:off x="6057900" y="2413000"/>
            <a:ext cx="4114800" cy="3810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ctr">
              <a:lnSpc>
                <a:spcPct val="120000"/>
              </a:lnSpc>
              <a:defRPr/>
            </a:pPr>
            <a:r>
              <a:rPr lang="en-US" sz="2500" b="1" dirty="0">
                <a:solidFill>
                  <a:srgbClr val="100900"/>
                </a:solidFill>
                <a:latin typeface="Poppins"/>
              </a:rPr>
              <a:t>Phase 2:</a:t>
            </a:r>
            <a:endParaRPr lang="en-US" sz="1100" dirty="0"/>
          </a:p>
        </p:txBody>
      </p:sp>
      <p:sp>
        <p:nvSpPr>
          <p:cNvPr id="22" name="TextBox 22"/>
          <p:cNvSpPr txBox="1"/>
          <p:nvPr/>
        </p:nvSpPr>
        <p:spPr>
          <a:xfrm>
            <a:off x="10998200" y="2413000"/>
            <a:ext cx="4114800" cy="3810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ctr">
              <a:lnSpc>
                <a:spcPct val="120000"/>
              </a:lnSpc>
              <a:defRPr/>
            </a:pPr>
            <a:r>
              <a:rPr lang="en-US" sz="2500" b="1" dirty="0">
                <a:solidFill>
                  <a:srgbClr val="100900"/>
                </a:solidFill>
                <a:latin typeface="Poppins"/>
              </a:rPr>
              <a:t>Phase 3:</a:t>
            </a:r>
            <a:endParaRPr lang="en-US" sz="1100" dirty="0"/>
          </a:p>
        </p:txBody>
      </p:sp>
      <p:sp>
        <p:nvSpPr>
          <p:cNvPr id="23" name="TextBox 23"/>
          <p:cNvSpPr txBox="1"/>
          <p:nvPr/>
        </p:nvSpPr>
        <p:spPr>
          <a:xfrm>
            <a:off x="1130300" y="2946400"/>
            <a:ext cx="4114800" cy="3175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ctr">
              <a:lnSpc>
                <a:spcPct val="150000"/>
              </a:lnSpc>
              <a:defRPr/>
            </a:pPr>
            <a:r>
              <a:rPr lang="en-US" sz="1700" b="1">
                <a:solidFill>
                  <a:srgbClr val="000000"/>
                </a:solidFill>
                <a:latin typeface="Poppins"/>
              </a:rPr>
              <a:t>Data Intake &amp; Alignment</a:t>
            </a:r>
            <a:endParaRPr lang="en-US" sz="1100"/>
          </a:p>
        </p:txBody>
      </p:sp>
      <p:sp>
        <p:nvSpPr>
          <p:cNvPr id="24" name="TextBox 24"/>
          <p:cNvSpPr txBox="1"/>
          <p:nvPr/>
        </p:nvSpPr>
        <p:spPr>
          <a:xfrm>
            <a:off x="1384300" y="3441700"/>
            <a:ext cx="3860800" cy="9652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700" dirty="0">
                <a:solidFill>
                  <a:srgbClr val="000000"/>
                </a:solidFill>
                <a:latin typeface="Poppins"/>
              </a:rPr>
              <a:t>Connect to internal sales/comps/category datasets</a:t>
            </a:r>
            <a:endParaRPr lang="en-US" sz="1100" dirty="0"/>
          </a:p>
        </p:txBody>
      </p:sp>
      <p:sp>
        <p:nvSpPr>
          <p:cNvPr id="25" name="TextBox 25"/>
          <p:cNvSpPr txBox="1"/>
          <p:nvPr/>
        </p:nvSpPr>
        <p:spPr>
          <a:xfrm>
            <a:off x="1384300" y="4597400"/>
            <a:ext cx="3860800" cy="9652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700" dirty="0">
                <a:solidFill>
                  <a:srgbClr val="000000"/>
                </a:solidFill>
                <a:latin typeface="Poppins"/>
              </a:rPr>
              <a:t>Align fiscal weeks with external context (storms, housing)</a:t>
            </a:r>
            <a:endParaRPr lang="en-US" sz="1100" dirty="0"/>
          </a:p>
        </p:txBody>
      </p:sp>
      <p:sp>
        <p:nvSpPr>
          <p:cNvPr id="26" name="TextBox 26"/>
          <p:cNvSpPr txBox="1"/>
          <p:nvPr/>
        </p:nvSpPr>
        <p:spPr>
          <a:xfrm>
            <a:off x="1384300" y="5753100"/>
            <a:ext cx="3860800" cy="647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700" dirty="0">
                <a:solidFill>
                  <a:srgbClr val="000000"/>
                </a:solidFill>
                <a:latin typeface="Poppins"/>
              </a:rPr>
              <a:t>Build prototype notebook with data validation</a:t>
            </a:r>
            <a:endParaRPr lang="en-US" sz="1100" dirty="0"/>
          </a:p>
        </p:txBody>
      </p:sp>
      <p:sp>
        <p:nvSpPr>
          <p:cNvPr id="27" name="TextBox 27"/>
          <p:cNvSpPr txBox="1"/>
          <p:nvPr/>
        </p:nvSpPr>
        <p:spPr>
          <a:xfrm>
            <a:off x="1384300" y="6578600"/>
            <a:ext cx="3860800" cy="647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700" b="1" dirty="0">
                <a:solidFill>
                  <a:srgbClr val="000000"/>
                </a:solidFill>
                <a:latin typeface="Poppins"/>
              </a:rPr>
              <a:t>Deliverable: </a:t>
            </a:r>
            <a:r>
              <a:rPr lang="en-US" sz="1700" dirty="0">
                <a:solidFill>
                  <a:srgbClr val="000000"/>
                </a:solidFill>
                <a:latin typeface="Poppins"/>
              </a:rPr>
              <a:t>Clean aligned dataset + notebook template</a:t>
            </a:r>
            <a:endParaRPr lang="en-US" sz="1100" dirty="0"/>
          </a:p>
        </p:txBody>
      </p:sp>
      <p:sp>
        <p:nvSpPr>
          <p:cNvPr id="28" name="TextBox 28"/>
          <p:cNvSpPr txBox="1"/>
          <p:nvPr/>
        </p:nvSpPr>
        <p:spPr>
          <a:xfrm>
            <a:off x="6057900" y="2946400"/>
            <a:ext cx="4114800" cy="3175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ctr">
              <a:lnSpc>
                <a:spcPct val="150000"/>
              </a:lnSpc>
              <a:defRPr/>
            </a:pPr>
            <a:r>
              <a:rPr lang="en-US" sz="1700" b="1">
                <a:solidFill>
                  <a:srgbClr val="000000"/>
                </a:solidFill>
                <a:latin typeface="Poppins"/>
              </a:rPr>
              <a:t>Resilience Scorecard MVP</a:t>
            </a:r>
            <a:endParaRPr lang="en-US" sz="1100"/>
          </a:p>
        </p:txBody>
      </p:sp>
      <p:sp>
        <p:nvSpPr>
          <p:cNvPr id="29" name="TextBox 29"/>
          <p:cNvSpPr txBox="1"/>
          <p:nvPr/>
        </p:nvSpPr>
        <p:spPr>
          <a:xfrm>
            <a:off x="6311900" y="3441700"/>
            <a:ext cx="3860800" cy="647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700" dirty="0">
                <a:solidFill>
                  <a:srgbClr val="000000"/>
                </a:solidFill>
                <a:latin typeface="Poppins"/>
              </a:rPr>
              <a:t>Compute volatility metrics by category/region</a:t>
            </a:r>
            <a:endParaRPr lang="en-US" sz="1100" dirty="0"/>
          </a:p>
        </p:txBody>
      </p:sp>
      <p:sp>
        <p:nvSpPr>
          <p:cNvPr id="30" name="TextBox 30"/>
          <p:cNvSpPr txBox="1"/>
          <p:nvPr/>
        </p:nvSpPr>
        <p:spPr>
          <a:xfrm>
            <a:off x="6311900" y="4267200"/>
            <a:ext cx="3860800" cy="647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700" dirty="0">
                <a:solidFill>
                  <a:srgbClr val="000000"/>
                </a:solidFill>
                <a:latin typeface="Poppins"/>
              </a:rPr>
              <a:t>Measure recovery speed after macro shifts</a:t>
            </a:r>
            <a:endParaRPr lang="en-US" sz="1100" dirty="0"/>
          </a:p>
        </p:txBody>
      </p:sp>
      <p:sp>
        <p:nvSpPr>
          <p:cNvPr id="31" name="TextBox 31"/>
          <p:cNvSpPr txBox="1"/>
          <p:nvPr/>
        </p:nvSpPr>
        <p:spPr>
          <a:xfrm>
            <a:off x="6311900" y="5092700"/>
            <a:ext cx="3860800" cy="647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700" dirty="0">
                <a:solidFill>
                  <a:srgbClr val="000000"/>
                </a:solidFill>
                <a:latin typeface="Poppins"/>
              </a:rPr>
              <a:t>Build composite Resilience Index</a:t>
            </a:r>
            <a:endParaRPr lang="en-US" sz="1100" dirty="0"/>
          </a:p>
        </p:txBody>
      </p:sp>
      <p:sp>
        <p:nvSpPr>
          <p:cNvPr id="32" name="TextBox 32"/>
          <p:cNvSpPr txBox="1"/>
          <p:nvPr/>
        </p:nvSpPr>
        <p:spPr>
          <a:xfrm>
            <a:off x="6311900" y="5918200"/>
            <a:ext cx="3860800" cy="647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700" dirty="0">
                <a:solidFill>
                  <a:srgbClr val="000000"/>
                </a:solidFill>
                <a:latin typeface="Poppins"/>
              </a:rPr>
              <a:t>Create Excel/Tableau dashboard with filters</a:t>
            </a:r>
            <a:endParaRPr lang="en-US" sz="1100" dirty="0"/>
          </a:p>
        </p:txBody>
      </p:sp>
      <p:sp>
        <p:nvSpPr>
          <p:cNvPr id="33" name="TextBox 33"/>
          <p:cNvSpPr txBox="1"/>
          <p:nvPr/>
        </p:nvSpPr>
        <p:spPr>
          <a:xfrm>
            <a:off x="6311900" y="6743700"/>
            <a:ext cx="3860800" cy="647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700" b="1" dirty="0">
                <a:solidFill>
                  <a:srgbClr val="000000"/>
                </a:solidFill>
                <a:latin typeface="Poppins"/>
              </a:rPr>
              <a:t>Deliverable: </a:t>
            </a:r>
            <a:r>
              <a:rPr lang="en-US" sz="1700" dirty="0">
                <a:solidFill>
                  <a:srgbClr val="000000"/>
                </a:solidFill>
                <a:latin typeface="Poppins"/>
              </a:rPr>
              <a:t>Working MVP dashboard + Python module</a:t>
            </a:r>
            <a:endParaRPr lang="en-US" sz="1100" dirty="0"/>
          </a:p>
        </p:txBody>
      </p:sp>
      <p:sp>
        <p:nvSpPr>
          <p:cNvPr id="34" name="TextBox 34"/>
          <p:cNvSpPr txBox="1"/>
          <p:nvPr/>
        </p:nvSpPr>
        <p:spPr>
          <a:xfrm>
            <a:off x="10998200" y="2946400"/>
            <a:ext cx="4114800" cy="647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ctr">
              <a:lnSpc>
                <a:spcPct val="150000"/>
              </a:lnSpc>
              <a:defRPr/>
            </a:pPr>
            <a:r>
              <a:rPr lang="en-US" sz="1700" b="1">
                <a:solidFill>
                  <a:srgbClr val="000000"/>
                </a:solidFill>
                <a:latin typeface="Poppins"/>
              </a:rPr>
              <a:t>Action Snippets &amp; Recommendations</a:t>
            </a:r>
            <a:endParaRPr lang="en-US" sz="1100"/>
          </a:p>
        </p:txBody>
      </p:sp>
      <p:sp>
        <p:nvSpPr>
          <p:cNvPr id="35" name="TextBox 35"/>
          <p:cNvSpPr txBox="1"/>
          <p:nvPr/>
        </p:nvSpPr>
        <p:spPr>
          <a:xfrm>
            <a:off x="11252200" y="3771900"/>
            <a:ext cx="3860800" cy="647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700" dirty="0">
                <a:solidFill>
                  <a:srgbClr val="000000"/>
                </a:solidFill>
                <a:latin typeface="Poppins"/>
              </a:rPr>
              <a:t>Identify "fragile but important" categories</a:t>
            </a:r>
            <a:endParaRPr lang="en-US" sz="1100" dirty="0"/>
          </a:p>
        </p:txBody>
      </p:sp>
      <p:sp>
        <p:nvSpPr>
          <p:cNvPr id="36" name="TextBox 36"/>
          <p:cNvSpPr txBox="1"/>
          <p:nvPr/>
        </p:nvSpPr>
        <p:spPr>
          <a:xfrm>
            <a:off x="11252200" y="4597400"/>
            <a:ext cx="3860800" cy="647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700" dirty="0">
                <a:solidFill>
                  <a:srgbClr val="000000"/>
                </a:solidFill>
                <a:latin typeface="Poppins"/>
              </a:rPr>
              <a:t>Propose low-risk experiments (promo timing, digital attach)</a:t>
            </a:r>
            <a:endParaRPr lang="en-US" sz="1100" dirty="0"/>
          </a:p>
        </p:txBody>
      </p:sp>
      <p:sp>
        <p:nvSpPr>
          <p:cNvPr id="37" name="TextBox 37"/>
          <p:cNvSpPr txBox="1"/>
          <p:nvPr/>
        </p:nvSpPr>
        <p:spPr>
          <a:xfrm>
            <a:off x="11252200" y="5422900"/>
            <a:ext cx="3860800" cy="647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700" dirty="0">
                <a:solidFill>
                  <a:srgbClr val="000000"/>
                </a:solidFill>
                <a:latin typeface="Poppins"/>
              </a:rPr>
              <a:t>Package findings into decision-ready deck</a:t>
            </a:r>
            <a:endParaRPr lang="en-US" sz="1100" dirty="0"/>
          </a:p>
        </p:txBody>
      </p:sp>
      <p:sp>
        <p:nvSpPr>
          <p:cNvPr id="38" name="TextBox 38"/>
          <p:cNvSpPr txBox="1"/>
          <p:nvPr/>
        </p:nvSpPr>
        <p:spPr>
          <a:xfrm>
            <a:off x="11252200" y="6248400"/>
            <a:ext cx="3860800" cy="647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700" b="1" dirty="0">
                <a:solidFill>
                  <a:srgbClr val="000000"/>
                </a:solidFill>
                <a:latin typeface="Poppins"/>
              </a:rPr>
              <a:t>Deliverable: </a:t>
            </a:r>
            <a:r>
              <a:rPr lang="en-US" sz="1700" dirty="0">
                <a:solidFill>
                  <a:srgbClr val="000000"/>
                </a:solidFill>
                <a:latin typeface="Poppins"/>
              </a:rPr>
              <a:t>Experiment proposals + handoff docs</a:t>
            </a:r>
            <a:endParaRPr lang="en-US" sz="1100" dirty="0"/>
          </a:p>
        </p:txBody>
      </p:sp>
      <p:sp>
        <p:nvSpPr>
          <p:cNvPr id="39" name="TextBox 39"/>
          <p:cNvSpPr txBox="1"/>
          <p:nvPr/>
        </p:nvSpPr>
        <p:spPr>
          <a:xfrm>
            <a:off x="1130300" y="7645400"/>
            <a:ext cx="14236700" cy="647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endParaRPr lang="en-US" sz="1100" dirty="0"/>
          </a:p>
        </p:txBody>
      </p:sp>
      <p:sp>
        <p:nvSpPr>
          <p:cNvPr id="40" name="TextBox 40"/>
          <p:cNvSpPr txBox="1"/>
          <p:nvPr/>
        </p:nvSpPr>
        <p:spPr>
          <a:xfrm>
            <a:off x="1003300" y="3492500"/>
            <a:ext cx="241300" cy="2159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algn="ctr">
              <a:lnSpc>
                <a:spcPct val="100000"/>
              </a:lnSpc>
              <a:defRPr/>
            </a:pPr>
            <a:r>
              <a:rPr lang="en-US" sz="1700" b="0">
                <a:solidFill>
                  <a:srgbClr val="000000"/>
                </a:solidFill>
                <a:highlight>
                  <a:srgbClr val="000000">
                    <a:alpha val="0"/>
                  </a:srgbClr>
                </a:highlight>
                <a:ea typeface="Poppins"/>
              </a:rPr>
              <a:t>●</a:t>
            </a:r>
            <a:endParaRPr lang="en-US" sz="1100"/>
          </a:p>
        </p:txBody>
      </p:sp>
      <p:sp>
        <p:nvSpPr>
          <p:cNvPr id="41" name="TextBox 41"/>
          <p:cNvSpPr txBox="1"/>
          <p:nvPr/>
        </p:nvSpPr>
        <p:spPr>
          <a:xfrm>
            <a:off x="1003300" y="4648200"/>
            <a:ext cx="241300" cy="2159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algn="ctr">
              <a:lnSpc>
                <a:spcPct val="100000"/>
              </a:lnSpc>
              <a:defRPr/>
            </a:pPr>
            <a:r>
              <a:rPr lang="en-US" sz="1700" b="0">
                <a:solidFill>
                  <a:srgbClr val="000000"/>
                </a:solidFill>
                <a:highlight>
                  <a:srgbClr val="000000">
                    <a:alpha val="0"/>
                  </a:srgbClr>
                </a:highlight>
                <a:ea typeface="Poppins"/>
              </a:rPr>
              <a:t>●</a:t>
            </a:r>
            <a:endParaRPr lang="en-US" sz="1100"/>
          </a:p>
        </p:txBody>
      </p:sp>
      <p:sp>
        <p:nvSpPr>
          <p:cNvPr id="42" name="TextBox 42"/>
          <p:cNvSpPr txBox="1"/>
          <p:nvPr/>
        </p:nvSpPr>
        <p:spPr>
          <a:xfrm>
            <a:off x="1003300" y="5803900"/>
            <a:ext cx="241300" cy="2159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algn="ctr">
              <a:lnSpc>
                <a:spcPct val="100000"/>
              </a:lnSpc>
              <a:defRPr/>
            </a:pPr>
            <a:r>
              <a:rPr lang="en-US" sz="1700" b="0">
                <a:solidFill>
                  <a:srgbClr val="000000"/>
                </a:solidFill>
                <a:highlight>
                  <a:srgbClr val="000000">
                    <a:alpha val="0"/>
                  </a:srgbClr>
                </a:highlight>
                <a:ea typeface="Poppins"/>
              </a:rPr>
              <a:t>●</a:t>
            </a:r>
            <a:endParaRPr lang="en-US" sz="1100"/>
          </a:p>
        </p:txBody>
      </p:sp>
      <p:sp>
        <p:nvSpPr>
          <p:cNvPr id="43" name="TextBox 43"/>
          <p:cNvSpPr txBox="1"/>
          <p:nvPr/>
        </p:nvSpPr>
        <p:spPr>
          <a:xfrm>
            <a:off x="1003300" y="6629400"/>
            <a:ext cx="241300" cy="2159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algn="ctr">
              <a:lnSpc>
                <a:spcPct val="100000"/>
              </a:lnSpc>
              <a:defRPr/>
            </a:pPr>
            <a:r>
              <a:rPr lang="en-US" sz="1700" b="0">
                <a:solidFill>
                  <a:srgbClr val="000000"/>
                </a:solidFill>
                <a:highlight>
                  <a:srgbClr val="000000">
                    <a:alpha val="0"/>
                  </a:srgbClr>
                </a:highlight>
                <a:ea typeface="Poppins"/>
              </a:rPr>
              <a:t>●</a:t>
            </a:r>
            <a:endParaRPr lang="en-US" sz="1100"/>
          </a:p>
        </p:txBody>
      </p:sp>
      <p:sp>
        <p:nvSpPr>
          <p:cNvPr id="44" name="TextBox 44"/>
          <p:cNvSpPr txBox="1"/>
          <p:nvPr/>
        </p:nvSpPr>
        <p:spPr>
          <a:xfrm>
            <a:off x="5930900" y="3492500"/>
            <a:ext cx="241300" cy="2159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algn="ctr">
              <a:lnSpc>
                <a:spcPct val="100000"/>
              </a:lnSpc>
              <a:defRPr/>
            </a:pPr>
            <a:r>
              <a:rPr lang="en-US" sz="1700" b="0">
                <a:solidFill>
                  <a:srgbClr val="000000"/>
                </a:solidFill>
                <a:highlight>
                  <a:srgbClr val="000000">
                    <a:alpha val="0"/>
                  </a:srgbClr>
                </a:highlight>
                <a:ea typeface="Poppins"/>
              </a:rPr>
              <a:t>●</a:t>
            </a:r>
            <a:endParaRPr lang="en-US" sz="1100"/>
          </a:p>
        </p:txBody>
      </p:sp>
      <p:sp>
        <p:nvSpPr>
          <p:cNvPr id="45" name="TextBox 45"/>
          <p:cNvSpPr txBox="1"/>
          <p:nvPr/>
        </p:nvSpPr>
        <p:spPr>
          <a:xfrm>
            <a:off x="5930900" y="4318000"/>
            <a:ext cx="241300" cy="2159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algn="ctr">
              <a:lnSpc>
                <a:spcPct val="100000"/>
              </a:lnSpc>
              <a:defRPr/>
            </a:pPr>
            <a:r>
              <a:rPr lang="en-US" sz="1700" b="0">
                <a:solidFill>
                  <a:srgbClr val="000000"/>
                </a:solidFill>
                <a:highlight>
                  <a:srgbClr val="000000">
                    <a:alpha val="0"/>
                  </a:srgbClr>
                </a:highlight>
                <a:ea typeface="Poppins"/>
              </a:rPr>
              <a:t>●</a:t>
            </a:r>
            <a:endParaRPr lang="en-US" sz="1100"/>
          </a:p>
        </p:txBody>
      </p:sp>
      <p:sp>
        <p:nvSpPr>
          <p:cNvPr id="46" name="TextBox 46"/>
          <p:cNvSpPr txBox="1"/>
          <p:nvPr/>
        </p:nvSpPr>
        <p:spPr>
          <a:xfrm>
            <a:off x="5930900" y="5143500"/>
            <a:ext cx="241300" cy="2159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algn="ctr">
              <a:lnSpc>
                <a:spcPct val="100000"/>
              </a:lnSpc>
              <a:defRPr/>
            </a:pPr>
            <a:r>
              <a:rPr lang="en-US" sz="1700" b="0">
                <a:solidFill>
                  <a:srgbClr val="000000"/>
                </a:solidFill>
                <a:highlight>
                  <a:srgbClr val="000000">
                    <a:alpha val="0"/>
                  </a:srgbClr>
                </a:highlight>
                <a:ea typeface="Poppins"/>
              </a:rPr>
              <a:t>●</a:t>
            </a:r>
            <a:endParaRPr lang="en-US" sz="1100"/>
          </a:p>
        </p:txBody>
      </p:sp>
      <p:sp>
        <p:nvSpPr>
          <p:cNvPr id="47" name="TextBox 47"/>
          <p:cNvSpPr txBox="1"/>
          <p:nvPr/>
        </p:nvSpPr>
        <p:spPr>
          <a:xfrm>
            <a:off x="5930900" y="5969000"/>
            <a:ext cx="241300" cy="2159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algn="ctr">
              <a:lnSpc>
                <a:spcPct val="100000"/>
              </a:lnSpc>
              <a:defRPr/>
            </a:pPr>
            <a:r>
              <a:rPr lang="en-US" sz="1700" b="0">
                <a:solidFill>
                  <a:srgbClr val="000000"/>
                </a:solidFill>
                <a:highlight>
                  <a:srgbClr val="000000">
                    <a:alpha val="0"/>
                  </a:srgbClr>
                </a:highlight>
                <a:ea typeface="Poppins"/>
              </a:rPr>
              <a:t>●</a:t>
            </a:r>
            <a:endParaRPr lang="en-US" sz="1100"/>
          </a:p>
        </p:txBody>
      </p:sp>
      <p:sp>
        <p:nvSpPr>
          <p:cNvPr id="48" name="TextBox 48"/>
          <p:cNvSpPr txBox="1"/>
          <p:nvPr/>
        </p:nvSpPr>
        <p:spPr>
          <a:xfrm>
            <a:off x="5930900" y="6794500"/>
            <a:ext cx="241300" cy="2159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algn="ctr">
              <a:lnSpc>
                <a:spcPct val="100000"/>
              </a:lnSpc>
              <a:defRPr/>
            </a:pPr>
            <a:r>
              <a:rPr lang="en-US" sz="1700" b="0">
                <a:solidFill>
                  <a:srgbClr val="000000"/>
                </a:solidFill>
                <a:highlight>
                  <a:srgbClr val="000000">
                    <a:alpha val="0"/>
                  </a:srgbClr>
                </a:highlight>
                <a:ea typeface="Poppins"/>
              </a:rPr>
              <a:t>●</a:t>
            </a:r>
            <a:endParaRPr lang="en-US" sz="1100"/>
          </a:p>
        </p:txBody>
      </p:sp>
      <p:sp>
        <p:nvSpPr>
          <p:cNvPr id="49" name="TextBox 49"/>
          <p:cNvSpPr txBox="1"/>
          <p:nvPr/>
        </p:nvSpPr>
        <p:spPr>
          <a:xfrm>
            <a:off x="10871200" y="3822700"/>
            <a:ext cx="241300" cy="2159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algn="ctr">
              <a:lnSpc>
                <a:spcPct val="100000"/>
              </a:lnSpc>
              <a:defRPr/>
            </a:pPr>
            <a:r>
              <a:rPr lang="en-US" sz="1700" b="0">
                <a:solidFill>
                  <a:srgbClr val="000000"/>
                </a:solidFill>
                <a:highlight>
                  <a:srgbClr val="000000">
                    <a:alpha val="0"/>
                  </a:srgbClr>
                </a:highlight>
                <a:ea typeface="Poppins"/>
              </a:rPr>
              <a:t>●</a:t>
            </a:r>
            <a:endParaRPr lang="en-US" sz="1100"/>
          </a:p>
        </p:txBody>
      </p:sp>
      <p:sp>
        <p:nvSpPr>
          <p:cNvPr id="50" name="TextBox 50"/>
          <p:cNvSpPr txBox="1"/>
          <p:nvPr/>
        </p:nvSpPr>
        <p:spPr>
          <a:xfrm>
            <a:off x="10871200" y="4648200"/>
            <a:ext cx="241300" cy="2159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algn="ctr">
              <a:lnSpc>
                <a:spcPct val="100000"/>
              </a:lnSpc>
              <a:defRPr/>
            </a:pPr>
            <a:r>
              <a:rPr lang="en-US" sz="1700" b="0">
                <a:solidFill>
                  <a:srgbClr val="000000"/>
                </a:solidFill>
                <a:highlight>
                  <a:srgbClr val="000000">
                    <a:alpha val="0"/>
                  </a:srgbClr>
                </a:highlight>
                <a:ea typeface="Poppins"/>
              </a:rPr>
              <a:t>●</a:t>
            </a:r>
            <a:endParaRPr lang="en-US" sz="1100"/>
          </a:p>
        </p:txBody>
      </p:sp>
      <p:sp>
        <p:nvSpPr>
          <p:cNvPr id="51" name="TextBox 51"/>
          <p:cNvSpPr txBox="1"/>
          <p:nvPr/>
        </p:nvSpPr>
        <p:spPr>
          <a:xfrm>
            <a:off x="10871200" y="5473700"/>
            <a:ext cx="241300" cy="2159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algn="ctr">
              <a:lnSpc>
                <a:spcPct val="100000"/>
              </a:lnSpc>
              <a:defRPr/>
            </a:pPr>
            <a:r>
              <a:rPr lang="en-US" sz="1700" b="0">
                <a:solidFill>
                  <a:srgbClr val="000000"/>
                </a:solidFill>
                <a:highlight>
                  <a:srgbClr val="000000">
                    <a:alpha val="0"/>
                  </a:srgbClr>
                </a:highlight>
                <a:ea typeface="Poppins"/>
              </a:rPr>
              <a:t>●</a:t>
            </a:r>
            <a:endParaRPr lang="en-US" sz="1100"/>
          </a:p>
        </p:txBody>
      </p:sp>
      <p:sp>
        <p:nvSpPr>
          <p:cNvPr id="52" name="TextBox 52"/>
          <p:cNvSpPr txBox="1"/>
          <p:nvPr/>
        </p:nvSpPr>
        <p:spPr>
          <a:xfrm>
            <a:off x="10871200" y="6299200"/>
            <a:ext cx="241300" cy="2159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algn="ctr">
              <a:lnSpc>
                <a:spcPct val="100000"/>
              </a:lnSpc>
              <a:defRPr/>
            </a:pPr>
            <a:r>
              <a:rPr lang="en-US" sz="1700" b="0">
                <a:solidFill>
                  <a:srgbClr val="000000"/>
                </a:solidFill>
                <a:highlight>
                  <a:srgbClr val="000000">
                    <a:alpha val="0"/>
                  </a:srgbClr>
                </a:highlight>
                <a:ea typeface="Poppins"/>
              </a:rPr>
              <a:t>●</a:t>
            </a:r>
            <a:endParaRPr lang="en-US" sz="1100"/>
          </a:p>
        </p:txBody>
      </p:sp>
      <p:pic>
        <p:nvPicPr>
          <p:cNvPr id="53" name="Picture 5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073400" y="1498600"/>
            <a:ext cx="215900" cy="215900"/>
          </a:xfrm>
          <a:prstGeom prst="rect">
            <a:avLst/>
          </a:prstGeom>
        </p:spPr>
      </p:pic>
      <p:pic>
        <p:nvPicPr>
          <p:cNvPr id="54" name="Picture 54"/>
          <p:cNvPicPr>
            <a:picLocks noChangeAspect="1"/>
          </p:cNvPicPr>
          <p:nvPr/>
        </p:nvPicPr>
        <p:blipFill>
          <a:blip r:embed="rId5"/>
          <a:srcRect t="6000" b="6000"/>
          <a:stretch>
            <a:fillRect/>
          </a:stretch>
        </p:blipFill>
        <p:spPr>
          <a:xfrm>
            <a:off x="8001000" y="1498600"/>
            <a:ext cx="241300" cy="215900"/>
          </a:xfrm>
          <a:prstGeom prst="rect">
            <a:avLst/>
          </a:prstGeom>
        </p:spPr>
      </p:pic>
      <p:pic>
        <p:nvPicPr>
          <p:cNvPr id="55" name="Picture 55"/>
          <p:cNvPicPr>
            <a:picLocks noChangeAspect="1"/>
          </p:cNvPicPr>
          <p:nvPr/>
        </p:nvPicPr>
        <p:blipFill>
          <a:blip r:embed="rId6"/>
          <a:srcRect l="9000" r="9000"/>
          <a:stretch>
            <a:fillRect/>
          </a:stretch>
        </p:blipFill>
        <p:spPr>
          <a:xfrm>
            <a:off x="12966700" y="1498600"/>
            <a:ext cx="177800" cy="2159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D0A2C">
              <a:alpha val="74902"/>
            </a:srgbClr>
          </a:solidFill>
          <a:ln w="50800">
            <a:solidFill>
              <a:srgbClr val="FFC277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4" name="AutoShape 4"/>
          <p:cNvSpPr/>
          <p:nvPr/>
        </p:nvSpPr>
        <p:spPr>
          <a:xfrm>
            <a:off x="876300" y="1841500"/>
            <a:ext cx="14490700" cy="67945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AutoShape 5"/>
          <p:cNvSpPr/>
          <p:nvPr/>
        </p:nvSpPr>
        <p:spPr>
          <a:xfrm>
            <a:off x="889000" y="1854200"/>
            <a:ext cx="3149600" cy="381000"/>
          </a:xfrm>
          <a:prstGeom prst="rect">
            <a:avLst/>
          </a:prstGeom>
          <a:solidFill>
            <a:srgbClr val="E1A862"/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>
            <a:off x="4038600" y="1854200"/>
            <a:ext cx="4699000" cy="381000"/>
          </a:xfrm>
          <a:prstGeom prst="rect">
            <a:avLst/>
          </a:prstGeom>
          <a:solidFill>
            <a:srgbClr val="E1A862"/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8737600" y="1854200"/>
            <a:ext cx="4978400" cy="381000"/>
          </a:xfrm>
          <a:prstGeom prst="rect">
            <a:avLst/>
          </a:prstGeom>
          <a:solidFill>
            <a:srgbClr val="E1A862"/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" name="AutoShape 8"/>
          <p:cNvSpPr/>
          <p:nvPr/>
        </p:nvSpPr>
        <p:spPr>
          <a:xfrm>
            <a:off x="13716000" y="1854200"/>
            <a:ext cx="1638300" cy="381000"/>
          </a:xfrm>
          <a:prstGeom prst="rect">
            <a:avLst/>
          </a:prstGeom>
          <a:solidFill>
            <a:srgbClr val="E1A862"/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AutoShape 9"/>
          <p:cNvSpPr/>
          <p:nvPr/>
        </p:nvSpPr>
        <p:spPr>
          <a:xfrm>
            <a:off x="889000" y="2235200"/>
            <a:ext cx="3149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AutoShape 10"/>
          <p:cNvSpPr/>
          <p:nvPr/>
        </p:nvSpPr>
        <p:spPr>
          <a:xfrm>
            <a:off x="4038600" y="2235200"/>
            <a:ext cx="46990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AutoShape 11"/>
          <p:cNvSpPr/>
          <p:nvPr/>
        </p:nvSpPr>
        <p:spPr>
          <a:xfrm>
            <a:off x="8737600" y="2235200"/>
            <a:ext cx="49784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AutoShape 12"/>
          <p:cNvSpPr/>
          <p:nvPr/>
        </p:nvSpPr>
        <p:spPr>
          <a:xfrm>
            <a:off x="13716000" y="2235200"/>
            <a:ext cx="16383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AutoShape 13"/>
          <p:cNvSpPr/>
          <p:nvPr/>
        </p:nvSpPr>
        <p:spPr>
          <a:xfrm>
            <a:off x="889000" y="2882900"/>
            <a:ext cx="3149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>
            <a:off x="4038600" y="2882900"/>
            <a:ext cx="46990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AutoShape 15"/>
          <p:cNvSpPr/>
          <p:nvPr/>
        </p:nvSpPr>
        <p:spPr>
          <a:xfrm>
            <a:off x="8737600" y="2882900"/>
            <a:ext cx="49784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AutoShape 16"/>
          <p:cNvSpPr/>
          <p:nvPr/>
        </p:nvSpPr>
        <p:spPr>
          <a:xfrm>
            <a:off x="13716000" y="2882900"/>
            <a:ext cx="16383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AutoShape 17"/>
          <p:cNvSpPr/>
          <p:nvPr/>
        </p:nvSpPr>
        <p:spPr>
          <a:xfrm>
            <a:off x="889000" y="3543300"/>
            <a:ext cx="3149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AutoShape 18"/>
          <p:cNvSpPr/>
          <p:nvPr/>
        </p:nvSpPr>
        <p:spPr>
          <a:xfrm>
            <a:off x="4038600" y="3543300"/>
            <a:ext cx="46990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AutoShape 19"/>
          <p:cNvSpPr/>
          <p:nvPr/>
        </p:nvSpPr>
        <p:spPr>
          <a:xfrm>
            <a:off x="8737600" y="3543300"/>
            <a:ext cx="49784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AutoShape 20"/>
          <p:cNvSpPr/>
          <p:nvPr/>
        </p:nvSpPr>
        <p:spPr>
          <a:xfrm>
            <a:off x="13716000" y="3543300"/>
            <a:ext cx="16383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AutoShape 21"/>
          <p:cNvSpPr/>
          <p:nvPr/>
        </p:nvSpPr>
        <p:spPr>
          <a:xfrm>
            <a:off x="889000" y="4191000"/>
            <a:ext cx="31496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AutoShape 22"/>
          <p:cNvSpPr/>
          <p:nvPr/>
        </p:nvSpPr>
        <p:spPr>
          <a:xfrm>
            <a:off x="4038600" y="4191000"/>
            <a:ext cx="4699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AutoShape 23"/>
          <p:cNvSpPr/>
          <p:nvPr/>
        </p:nvSpPr>
        <p:spPr>
          <a:xfrm>
            <a:off x="8737600" y="4191000"/>
            <a:ext cx="49784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" name="AutoShape 24"/>
          <p:cNvSpPr/>
          <p:nvPr/>
        </p:nvSpPr>
        <p:spPr>
          <a:xfrm>
            <a:off x="13716000" y="4191000"/>
            <a:ext cx="16383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" name="AutoShape 25"/>
          <p:cNvSpPr/>
          <p:nvPr/>
        </p:nvSpPr>
        <p:spPr>
          <a:xfrm>
            <a:off x="889000" y="5118100"/>
            <a:ext cx="3149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" name="AutoShape 26"/>
          <p:cNvSpPr/>
          <p:nvPr/>
        </p:nvSpPr>
        <p:spPr>
          <a:xfrm>
            <a:off x="4038600" y="5118100"/>
            <a:ext cx="46990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AutoShape 27"/>
          <p:cNvSpPr/>
          <p:nvPr/>
        </p:nvSpPr>
        <p:spPr>
          <a:xfrm>
            <a:off x="8737600" y="5118100"/>
            <a:ext cx="49784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" name="AutoShape 28"/>
          <p:cNvSpPr/>
          <p:nvPr/>
        </p:nvSpPr>
        <p:spPr>
          <a:xfrm>
            <a:off x="13716000" y="5118100"/>
            <a:ext cx="16383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AutoShape 29"/>
          <p:cNvSpPr/>
          <p:nvPr/>
        </p:nvSpPr>
        <p:spPr>
          <a:xfrm>
            <a:off x="889000" y="5765800"/>
            <a:ext cx="3149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" name="AutoShape 30"/>
          <p:cNvSpPr/>
          <p:nvPr/>
        </p:nvSpPr>
        <p:spPr>
          <a:xfrm>
            <a:off x="4038600" y="5765800"/>
            <a:ext cx="46990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" name="AutoShape 31"/>
          <p:cNvSpPr/>
          <p:nvPr/>
        </p:nvSpPr>
        <p:spPr>
          <a:xfrm>
            <a:off x="8737600" y="5765800"/>
            <a:ext cx="49784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2" name="AutoShape 32"/>
          <p:cNvSpPr/>
          <p:nvPr/>
        </p:nvSpPr>
        <p:spPr>
          <a:xfrm>
            <a:off x="13716000" y="5765800"/>
            <a:ext cx="16383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3" name="AutoShape 33"/>
          <p:cNvSpPr/>
          <p:nvPr/>
        </p:nvSpPr>
        <p:spPr>
          <a:xfrm>
            <a:off x="889000" y="6413500"/>
            <a:ext cx="3149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" name="AutoShape 34"/>
          <p:cNvSpPr/>
          <p:nvPr/>
        </p:nvSpPr>
        <p:spPr>
          <a:xfrm>
            <a:off x="4038600" y="6413500"/>
            <a:ext cx="46990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AutoShape 35"/>
          <p:cNvSpPr/>
          <p:nvPr/>
        </p:nvSpPr>
        <p:spPr>
          <a:xfrm>
            <a:off x="8737600" y="6413500"/>
            <a:ext cx="49784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6" name="AutoShape 36"/>
          <p:cNvSpPr/>
          <p:nvPr/>
        </p:nvSpPr>
        <p:spPr>
          <a:xfrm>
            <a:off x="13716000" y="6413500"/>
            <a:ext cx="16383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7" name="AutoShape 37"/>
          <p:cNvSpPr/>
          <p:nvPr/>
        </p:nvSpPr>
        <p:spPr>
          <a:xfrm>
            <a:off x="889000" y="7073900"/>
            <a:ext cx="3149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AutoShape 38"/>
          <p:cNvSpPr/>
          <p:nvPr/>
        </p:nvSpPr>
        <p:spPr>
          <a:xfrm>
            <a:off x="4038600" y="7073900"/>
            <a:ext cx="46990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9" name="AutoShape 39"/>
          <p:cNvSpPr/>
          <p:nvPr/>
        </p:nvSpPr>
        <p:spPr>
          <a:xfrm>
            <a:off x="8737600" y="7073900"/>
            <a:ext cx="49784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0" name="AutoShape 40"/>
          <p:cNvSpPr/>
          <p:nvPr/>
        </p:nvSpPr>
        <p:spPr>
          <a:xfrm>
            <a:off x="13716000" y="7073900"/>
            <a:ext cx="16383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1" name="AutoShape 41"/>
          <p:cNvSpPr/>
          <p:nvPr/>
        </p:nvSpPr>
        <p:spPr>
          <a:xfrm>
            <a:off x="889000" y="7721600"/>
            <a:ext cx="31496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2" name="AutoShape 42"/>
          <p:cNvSpPr/>
          <p:nvPr/>
        </p:nvSpPr>
        <p:spPr>
          <a:xfrm>
            <a:off x="4038600" y="7721600"/>
            <a:ext cx="4699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3" name="AutoShape 43"/>
          <p:cNvSpPr/>
          <p:nvPr/>
        </p:nvSpPr>
        <p:spPr>
          <a:xfrm>
            <a:off x="8737600" y="7721600"/>
            <a:ext cx="49784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4" name="AutoShape 44"/>
          <p:cNvSpPr/>
          <p:nvPr/>
        </p:nvSpPr>
        <p:spPr>
          <a:xfrm>
            <a:off x="13716000" y="7721600"/>
            <a:ext cx="16383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9446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45" name="Picture 45"/>
          <p:cNvPicPr>
            <a:picLocks noChangeAspect="1"/>
          </p:cNvPicPr>
          <p:nvPr/>
        </p:nvPicPr>
        <p:blipFill>
          <a:blip r:embed="rId3"/>
          <a:srcRect t="15000" b="15000"/>
          <a:stretch>
            <a:fillRect/>
          </a:stretch>
        </p:blipFill>
        <p:spPr>
          <a:xfrm>
            <a:off x="15570200" y="139700"/>
            <a:ext cx="469900" cy="330200"/>
          </a:xfrm>
          <a:prstGeom prst="rect">
            <a:avLst/>
          </a:prstGeom>
        </p:spPr>
      </p:pic>
      <p:sp>
        <p:nvSpPr>
          <p:cNvPr id="46" name="TextBox 46"/>
          <p:cNvSpPr txBox="1"/>
          <p:nvPr/>
        </p:nvSpPr>
        <p:spPr>
          <a:xfrm>
            <a:off x="876300" y="482600"/>
            <a:ext cx="14490700" cy="4191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20000"/>
              </a:lnSpc>
              <a:defRPr/>
            </a:pP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Poppins"/>
              </a:rPr>
              <a:t>Data &amp; Sources:</a:t>
            </a:r>
            <a:endParaRPr lang="en-US" sz="11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876300" y="1117600"/>
            <a:ext cx="14490700" cy="5334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All data in this proposal comes from official sources: Home Depot investor relations, SEC filings, third-party financial aggregators, and recent news coverage. Below is the complete data dictionary and source citations.</a:t>
            </a:r>
            <a:endParaRPr lang="en-US" sz="1100"/>
          </a:p>
        </p:txBody>
      </p:sp>
      <p:sp>
        <p:nvSpPr>
          <p:cNvPr id="48" name="TextBox 48"/>
          <p:cNvSpPr txBox="1"/>
          <p:nvPr/>
        </p:nvSpPr>
        <p:spPr>
          <a:xfrm>
            <a:off x="965200" y="1905000"/>
            <a:ext cx="2984500" cy="266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Metric / Data Point</a:t>
            </a:r>
            <a:endParaRPr lang="en-US" sz="1100"/>
          </a:p>
        </p:txBody>
      </p:sp>
      <p:sp>
        <p:nvSpPr>
          <p:cNvPr id="49" name="TextBox 49"/>
          <p:cNvSpPr txBox="1"/>
          <p:nvPr/>
        </p:nvSpPr>
        <p:spPr>
          <a:xfrm>
            <a:off x="4114800" y="1905000"/>
            <a:ext cx="4521200" cy="266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Source</a:t>
            </a:r>
            <a:endParaRPr lang="en-US" sz="1100"/>
          </a:p>
        </p:txBody>
      </p:sp>
      <p:sp>
        <p:nvSpPr>
          <p:cNvPr id="50" name="TextBox 50"/>
          <p:cNvSpPr txBox="1"/>
          <p:nvPr/>
        </p:nvSpPr>
        <p:spPr>
          <a:xfrm>
            <a:off x="8813800" y="1905000"/>
            <a:ext cx="4813300" cy="266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How Used in Proposal</a:t>
            </a:r>
            <a:endParaRPr lang="en-US" sz="1100"/>
          </a:p>
        </p:txBody>
      </p:sp>
      <p:sp>
        <p:nvSpPr>
          <p:cNvPr id="51" name="TextBox 51"/>
          <p:cNvSpPr txBox="1"/>
          <p:nvPr/>
        </p:nvSpPr>
        <p:spPr>
          <a:xfrm>
            <a:off x="13804900" y="1905000"/>
            <a:ext cx="1473200" cy="266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Year / Date</a:t>
            </a:r>
            <a:endParaRPr lang="en-US" sz="1100"/>
          </a:p>
        </p:txBody>
      </p:sp>
      <p:sp>
        <p:nvSpPr>
          <p:cNvPr id="52" name="TextBox 52"/>
          <p:cNvSpPr txBox="1"/>
          <p:nvPr/>
        </p:nvSpPr>
        <p:spPr>
          <a:xfrm>
            <a:off x="965200" y="2298700"/>
            <a:ext cx="2984500" cy="5334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FY 2023 Sales &amp; Comparable Sales</a:t>
            </a:r>
            <a:endParaRPr lang="en-US" sz="1100"/>
          </a:p>
        </p:txBody>
      </p:sp>
      <p:sp>
        <p:nvSpPr>
          <p:cNvPr id="53" name="TextBox 53"/>
          <p:cNvSpPr txBox="1"/>
          <p:nvPr/>
        </p:nvSpPr>
        <p:spPr>
          <a:xfrm>
            <a:off x="4114800" y="2298700"/>
            <a:ext cx="4521200" cy="5334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Home Depot 2023 Annual Report (IR)</a:t>
            </a:r>
            <a:endParaRPr lang="en-US" sz="1100"/>
          </a:p>
        </p:txBody>
      </p:sp>
      <p:sp>
        <p:nvSpPr>
          <p:cNvPr id="54" name="TextBox 54"/>
          <p:cNvSpPr txBox="1"/>
          <p:nvPr/>
        </p:nvSpPr>
        <p:spPr>
          <a:xfrm>
            <a:off x="8813800" y="2298700"/>
            <a:ext cx="4813300" cy="5334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Support statement: sales fell 3.0%, comps fell 3.2%</a:t>
            </a:r>
            <a:endParaRPr lang="en-US" sz="1100"/>
          </a:p>
        </p:txBody>
      </p:sp>
      <p:sp>
        <p:nvSpPr>
          <p:cNvPr id="55" name="TextBox 55"/>
          <p:cNvSpPr txBox="1"/>
          <p:nvPr/>
        </p:nvSpPr>
        <p:spPr>
          <a:xfrm>
            <a:off x="13804900" y="2298700"/>
            <a:ext cx="1473200" cy="266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Fiscal 2023</a:t>
            </a:r>
            <a:endParaRPr lang="en-US" sz="1100"/>
          </a:p>
        </p:txBody>
      </p:sp>
      <p:sp>
        <p:nvSpPr>
          <p:cNvPr id="56" name="TextBox 56"/>
          <p:cNvSpPr txBox="1"/>
          <p:nvPr/>
        </p:nvSpPr>
        <p:spPr>
          <a:xfrm>
            <a:off x="965200" y="2946400"/>
            <a:ext cx="2984500" cy="5334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FY 2024 Sales &amp; Comparable Sales</a:t>
            </a:r>
            <a:endParaRPr lang="en-US" sz="1100"/>
          </a:p>
        </p:txBody>
      </p:sp>
      <p:sp>
        <p:nvSpPr>
          <p:cNvPr id="57" name="TextBox 57"/>
          <p:cNvSpPr txBox="1"/>
          <p:nvPr/>
        </p:nvSpPr>
        <p:spPr>
          <a:xfrm>
            <a:off x="4114800" y="2946400"/>
            <a:ext cx="4521200" cy="5334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Home Depot 2024 Annual Report (IR)</a:t>
            </a:r>
            <a:endParaRPr lang="en-US" sz="1100"/>
          </a:p>
        </p:txBody>
      </p:sp>
      <p:sp>
        <p:nvSpPr>
          <p:cNvPr id="58" name="TextBox 58"/>
          <p:cNvSpPr txBox="1"/>
          <p:nvPr/>
        </p:nvSpPr>
        <p:spPr>
          <a:xfrm>
            <a:off x="8813800" y="2946400"/>
            <a:ext cx="4813300" cy="5334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Show sales growth to $159.5B but comps -1.8%</a:t>
            </a:r>
            <a:endParaRPr lang="en-US" sz="1100"/>
          </a:p>
        </p:txBody>
      </p:sp>
      <p:sp>
        <p:nvSpPr>
          <p:cNvPr id="59" name="TextBox 59"/>
          <p:cNvSpPr txBox="1"/>
          <p:nvPr/>
        </p:nvSpPr>
        <p:spPr>
          <a:xfrm>
            <a:off x="13804900" y="2946400"/>
            <a:ext cx="1473200" cy="266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Fiscal 2024</a:t>
            </a:r>
            <a:endParaRPr lang="en-US" sz="1100"/>
          </a:p>
        </p:txBody>
      </p:sp>
      <p:sp>
        <p:nvSpPr>
          <p:cNvPr id="60" name="TextBox 60"/>
          <p:cNvSpPr txBox="1"/>
          <p:nvPr/>
        </p:nvSpPr>
        <p:spPr>
          <a:xfrm>
            <a:off x="965200" y="3594100"/>
            <a:ext cx="2984500" cy="5334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Q4 2024 Comparable Sales</a:t>
            </a:r>
            <a:endParaRPr lang="en-US" sz="1100"/>
          </a:p>
        </p:txBody>
      </p:sp>
      <p:sp>
        <p:nvSpPr>
          <p:cNvPr id="61" name="TextBox 61"/>
          <p:cNvSpPr txBox="1"/>
          <p:nvPr/>
        </p:nvSpPr>
        <p:spPr>
          <a:xfrm>
            <a:off x="4114800" y="3594100"/>
            <a:ext cx="4521200" cy="266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HD IR + Investopedia / AP coverage</a:t>
            </a:r>
            <a:endParaRPr lang="en-US" sz="1100"/>
          </a:p>
        </p:txBody>
      </p:sp>
      <p:sp>
        <p:nvSpPr>
          <p:cNvPr id="62" name="TextBox 62"/>
          <p:cNvSpPr txBox="1"/>
          <p:nvPr/>
        </p:nvSpPr>
        <p:spPr>
          <a:xfrm>
            <a:off x="8813800" y="3594100"/>
            <a:ext cx="4813300" cy="266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First positive comps: +0.8%</a:t>
            </a:r>
            <a:endParaRPr lang="en-US" sz="1100"/>
          </a:p>
        </p:txBody>
      </p:sp>
      <p:sp>
        <p:nvSpPr>
          <p:cNvPr id="63" name="TextBox 63"/>
          <p:cNvSpPr txBox="1"/>
          <p:nvPr/>
        </p:nvSpPr>
        <p:spPr>
          <a:xfrm>
            <a:off x="13804900" y="3594100"/>
            <a:ext cx="1473200" cy="266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Q4 FY2024</a:t>
            </a:r>
            <a:endParaRPr lang="en-US" sz="1100"/>
          </a:p>
        </p:txBody>
      </p:sp>
      <p:sp>
        <p:nvSpPr>
          <p:cNvPr id="64" name="TextBox 64"/>
          <p:cNvSpPr txBox="1"/>
          <p:nvPr/>
        </p:nvSpPr>
        <p:spPr>
          <a:xfrm>
            <a:off x="965200" y="4254500"/>
            <a:ext cx="2984500" cy="5334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Q3 2025 Sales &amp; Comps</a:t>
            </a:r>
            <a:endParaRPr lang="en-US" sz="1100"/>
          </a:p>
        </p:txBody>
      </p:sp>
      <p:sp>
        <p:nvSpPr>
          <p:cNvPr id="65" name="TextBox 65"/>
          <p:cNvSpPr txBox="1"/>
          <p:nvPr/>
        </p:nvSpPr>
        <p:spPr>
          <a:xfrm>
            <a:off x="4114800" y="4254500"/>
            <a:ext cx="4521200" cy="5334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Home Depot Q3 2025 Press Release (Nov 18, 2025)</a:t>
            </a:r>
            <a:endParaRPr lang="en-US" sz="1100"/>
          </a:p>
        </p:txBody>
      </p:sp>
      <p:sp>
        <p:nvSpPr>
          <p:cNvPr id="66" name="TextBox 66"/>
          <p:cNvSpPr txBox="1"/>
          <p:nvPr/>
        </p:nvSpPr>
        <p:spPr>
          <a:xfrm>
            <a:off x="8813800" y="4254500"/>
            <a:ext cx="4813300" cy="8001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Highlight +2.8% sales vs +0.2% comps; note weather/housing headwinds</a:t>
            </a:r>
            <a:endParaRPr lang="en-US" sz="1100"/>
          </a:p>
        </p:txBody>
      </p:sp>
      <p:sp>
        <p:nvSpPr>
          <p:cNvPr id="67" name="TextBox 67"/>
          <p:cNvSpPr txBox="1"/>
          <p:nvPr/>
        </p:nvSpPr>
        <p:spPr>
          <a:xfrm>
            <a:off x="13804900" y="4254500"/>
            <a:ext cx="1473200" cy="266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Q3 FY2025</a:t>
            </a:r>
            <a:endParaRPr lang="en-US" sz="1100"/>
          </a:p>
        </p:txBody>
      </p:sp>
      <p:sp>
        <p:nvSpPr>
          <p:cNvPr id="68" name="TextBox 68"/>
          <p:cNvSpPr txBox="1"/>
          <p:nvPr/>
        </p:nvSpPr>
        <p:spPr>
          <a:xfrm>
            <a:off x="965200" y="5168900"/>
            <a:ext cx="2984500" cy="5334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Annual Revenue 2021–2025</a:t>
            </a:r>
            <a:endParaRPr lang="en-US" sz="1100"/>
          </a:p>
        </p:txBody>
      </p:sp>
      <p:sp>
        <p:nvSpPr>
          <p:cNvPr id="69" name="TextBox 69"/>
          <p:cNvSpPr txBox="1"/>
          <p:nvPr/>
        </p:nvSpPr>
        <p:spPr>
          <a:xfrm>
            <a:off x="4114800" y="5168900"/>
            <a:ext cx="4521200" cy="5334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MacroTrends, WallStreetZen, SEC filings</a:t>
            </a:r>
            <a:endParaRPr lang="en-US" sz="1100"/>
          </a:p>
        </p:txBody>
      </p:sp>
      <p:sp>
        <p:nvSpPr>
          <p:cNvPr id="70" name="TextBox 70"/>
          <p:cNvSpPr txBox="1"/>
          <p:nvPr/>
        </p:nvSpPr>
        <p:spPr>
          <a:xfrm>
            <a:off x="8813800" y="5168900"/>
            <a:ext cx="4813300" cy="5334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Revenue chart showing $132.1B to $159.5B trend</a:t>
            </a:r>
            <a:endParaRPr lang="en-US" sz="1100"/>
          </a:p>
        </p:txBody>
      </p:sp>
      <p:sp>
        <p:nvSpPr>
          <p:cNvPr id="71" name="TextBox 71"/>
          <p:cNvSpPr txBox="1"/>
          <p:nvPr/>
        </p:nvSpPr>
        <p:spPr>
          <a:xfrm>
            <a:off x="13804900" y="5168900"/>
            <a:ext cx="1473200" cy="266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2021–2025</a:t>
            </a:r>
            <a:endParaRPr lang="en-US" sz="1100"/>
          </a:p>
        </p:txBody>
      </p:sp>
      <p:sp>
        <p:nvSpPr>
          <p:cNvPr id="72" name="TextBox 72"/>
          <p:cNvSpPr txBox="1"/>
          <p:nvPr/>
        </p:nvSpPr>
        <p:spPr>
          <a:xfrm>
            <a:off x="965200" y="5829300"/>
            <a:ext cx="2984500" cy="5334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2022 Online Sales Share</a:t>
            </a:r>
            <a:endParaRPr lang="en-US" sz="1100"/>
          </a:p>
        </p:txBody>
      </p:sp>
      <p:sp>
        <p:nvSpPr>
          <p:cNvPr id="73" name="TextBox 73"/>
          <p:cNvSpPr txBox="1"/>
          <p:nvPr/>
        </p:nvSpPr>
        <p:spPr>
          <a:xfrm>
            <a:off x="4114800" y="5829300"/>
            <a:ext cx="4521200" cy="266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Home Depot 2022 Annual Report</a:t>
            </a:r>
            <a:endParaRPr lang="en-US" sz="1100"/>
          </a:p>
        </p:txBody>
      </p:sp>
      <p:sp>
        <p:nvSpPr>
          <p:cNvPr id="74" name="TextBox 74"/>
          <p:cNvSpPr txBox="1"/>
          <p:nvPr/>
        </p:nvSpPr>
        <p:spPr>
          <a:xfrm>
            <a:off x="8813800" y="5829300"/>
            <a:ext cx="4813300" cy="5334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Estimate ~$22.3B online volume (14.2% × revenue)</a:t>
            </a:r>
            <a:endParaRPr lang="en-US" sz="1100"/>
          </a:p>
        </p:txBody>
      </p:sp>
      <p:sp>
        <p:nvSpPr>
          <p:cNvPr id="75" name="TextBox 75"/>
          <p:cNvSpPr txBox="1"/>
          <p:nvPr/>
        </p:nvSpPr>
        <p:spPr>
          <a:xfrm>
            <a:off x="13804900" y="5829300"/>
            <a:ext cx="1473200" cy="266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Fiscal 2022</a:t>
            </a:r>
            <a:endParaRPr lang="en-US" sz="1100"/>
          </a:p>
        </p:txBody>
      </p:sp>
      <p:sp>
        <p:nvSpPr>
          <p:cNvPr id="76" name="TextBox 76"/>
          <p:cNvSpPr txBox="1"/>
          <p:nvPr/>
        </p:nvSpPr>
        <p:spPr>
          <a:xfrm>
            <a:off x="965200" y="6477000"/>
            <a:ext cx="2984500" cy="5334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2024 HomeDepot.com GMV</a:t>
            </a:r>
            <a:endParaRPr lang="en-US" sz="1100"/>
          </a:p>
        </p:txBody>
      </p:sp>
      <p:sp>
        <p:nvSpPr>
          <p:cNvPr id="77" name="TextBox 77"/>
          <p:cNvSpPr txBox="1"/>
          <p:nvPr/>
        </p:nvSpPr>
        <p:spPr>
          <a:xfrm>
            <a:off x="4114800" y="6477000"/>
            <a:ext cx="4521200" cy="266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ECDB Retailer Data</a:t>
            </a:r>
            <a:endParaRPr lang="en-US" sz="1100"/>
          </a:p>
        </p:txBody>
      </p:sp>
      <p:sp>
        <p:nvSpPr>
          <p:cNvPr id="78" name="TextBox 78"/>
          <p:cNvSpPr txBox="1"/>
          <p:nvPr/>
        </p:nvSpPr>
        <p:spPr>
          <a:xfrm>
            <a:off x="8813800" y="6477000"/>
            <a:ext cx="4813300" cy="5334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Reference $21.1B annual online GMV with 0–5% growth</a:t>
            </a:r>
            <a:endParaRPr lang="en-US" sz="1100"/>
          </a:p>
        </p:txBody>
      </p:sp>
      <p:sp>
        <p:nvSpPr>
          <p:cNvPr id="79" name="TextBox 79"/>
          <p:cNvSpPr txBox="1"/>
          <p:nvPr/>
        </p:nvSpPr>
        <p:spPr>
          <a:xfrm>
            <a:off x="13804900" y="6477000"/>
            <a:ext cx="1473200" cy="266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2024</a:t>
            </a:r>
            <a:endParaRPr lang="en-US" sz="1100"/>
          </a:p>
        </p:txBody>
      </p:sp>
      <p:sp>
        <p:nvSpPr>
          <p:cNvPr id="80" name="TextBox 80"/>
          <p:cNvSpPr txBox="1"/>
          <p:nvPr/>
        </p:nvSpPr>
        <p:spPr>
          <a:xfrm>
            <a:off x="965200" y="7124700"/>
            <a:ext cx="2984500" cy="266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Q3 2025 Online Growth</a:t>
            </a:r>
            <a:endParaRPr lang="en-US" sz="1100"/>
          </a:p>
        </p:txBody>
      </p:sp>
      <p:sp>
        <p:nvSpPr>
          <p:cNvPr id="81" name="TextBox 81"/>
          <p:cNvSpPr txBox="1"/>
          <p:nvPr/>
        </p:nvSpPr>
        <p:spPr>
          <a:xfrm>
            <a:off x="4114800" y="7124700"/>
            <a:ext cx="4521200" cy="5334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Digital Commerce 360 / HD Q3 2025 Earnings</a:t>
            </a:r>
            <a:endParaRPr lang="en-US" sz="1100"/>
          </a:p>
        </p:txBody>
      </p:sp>
      <p:sp>
        <p:nvSpPr>
          <p:cNvPr id="82" name="TextBox 82"/>
          <p:cNvSpPr txBox="1"/>
          <p:nvPr/>
        </p:nvSpPr>
        <p:spPr>
          <a:xfrm>
            <a:off x="8813800" y="7124700"/>
            <a:ext cx="4813300" cy="266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Online sales +11% YoY in Q3 2025</a:t>
            </a:r>
            <a:endParaRPr lang="en-US" sz="1100"/>
          </a:p>
        </p:txBody>
      </p:sp>
      <p:sp>
        <p:nvSpPr>
          <p:cNvPr id="83" name="TextBox 83"/>
          <p:cNvSpPr txBox="1"/>
          <p:nvPr/>
        </p:nvSpPr>
        <p:spPr>
          <a:xfrm>
            <a:off x="13804900" y="7124700"/>
            <a:ext cx="1473200" cy="2667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Q3 FY2025</a:t>
            </a:r>
            <a:endParaRPr lang="en-US" sz="1100"/>
          </a:p>
        </p:txBody>
      </p:sp>
      <p:sp>
        <p:nvSpPr>
          <p:cNvPr id="84" name="TextBox 84"/>
          <p:cNvSpPr txBox="1"/>
          <p:nvPr/>
        </p:nvSpPr>
        <p:spPr>
          <a:xfrm>
            <a:off x="965200" y="7785100"/>
            <a:ext cx="2984500" cy="5334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Weather &amp; Housing Impacts</a:t>
            </a:r>
            <a:endParaRPr lang="en-US" sz="1100"/>
          </a:p>
        </p:txBody>
      </p:sp>
      <p:sp>
        <p:nvSpPr>
          <p:cNvPr id="85" name="TextBox 85"/>
          <p:cNvSpPr txBox="1"/>
          <p:nvPr/>
        </p:nvSpPr>
        <p:spPr>
          <a:xfrm>
            <a:off x="4114800" y="7785100"/>
            <a:ext cx="4521200" cy="8001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CEO Quote (Q3 2025 Earnings), Business Insider, AP News, Market Watch</a:t>
            </a:r>
            <a:endParaRPr lang="en-US" sz="1100"/>
          </a:p>
        </p:txBody>
      </p:sp>
      <p:sp>
        <p:nvSpPr>
          <p:cNvPr id="86" name="TextBox 86"/>
          <p:cNvSpPr txBox="1"/>
          <p:nvPr/>
        </p:nvSpPr>
        <p:spPr>
          <a:xfrm>
            <a:off x="8813800" y="7785100"/>
            <a:ext cx="4813300" cy="5334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Document external headwinds: fewer storms, housing weakness</a:t>
            </a:r>
            <a:endParaRPr lang="en-US" sz="1100"/>
          </a:p>
        </p:txBody>
      </p:sp>
      <p:sp>
        <p:nvSpPr>
          <p:cNvPr id="87" name="TextBox 87"/>
          <p:cNvSpPr txBox="1"/>
          <p:nvPr/>
        </p:nvSpPr>
        <p:spPr>
          <a:xfrm>
            <a:off x="13804900" y="7785100"/>
            <a:ext cx="1473200" cy="5334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l">
              <a:lnSpc>
                <a:spcPct val="150000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Poppins"/>
              </a:rPr>
              <a:t>Q3 2025 / Nov 2025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D0A2C">
              <a:alpha val="74902"/>
            </a:srgbClr>
          </a:solidFill>
          <a:ln w="50800">
            <a:solidFill>
              <a:srgbClr val="FFC277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rcRect t="8000" b="8000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6" b="306"/>
          <a:stretch/>
        </p:blipFill>
        <p:spPr>
          <a:xfrm>
            <a:off x="50800" y="50800"/>
            <a:ext cx="16129000" cy="9017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50800" y="381000"/>
            <a:ext cx="16129000" cy="9017000"/>
          </a:xfrm>
          <a:prstGeom prst="rect">
            <a:avLst/>
          </a:prstGeom>
          <a:solidFill>
            <a:srgbClr val="FFFFFF">
              <a:alpha val="60000"/>
            </a:srgbClr>
          </a:solidFill>
        </p:spPr>
        <p:txBody>
          <a:bodyPr/>
          <a:lstStyle/>
          <a:p>
            <a:endParaRPr lang="en-US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5570200" y="190500"/>
            <a:ext cx="469900" cy="4699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876300" y="2540000"/>
            <a:ext cx="14490700" cy="15113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ctr">
              <a:lnSpc>
                <a:spcPct val="160000"/>
              </a:lnSpc>
              <a:defRPr/>
            </a:pPr>
            <a:r>
              <a:rPr lang="en-US" sz="4900" b="1" dirty="0">
                <a:solidFill>
                  <a:schemeClr val="accent6">
                    <a:lumMod val="75000"/>
                  </a:schemeClr>
                </a:solidFill>
                <a:latin typeface="&quot;Yeseva One&quot;"/>
              </a:rPr>
              <a:t>The Home Depot Already Excels—My Goal is to Build Resilience</a:t>
            </a:r>
            <a:endParaRPr lang="en-US" sz="11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76300" y="4330700"/>
            <a:ext cx="14490700" cy="2260600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lIns="0" tIns="0" rIns="0" bIns="0" rtlCol="0" anchor="ctr"/>
          <a:lstStyle/>
          <a:p>
            <a:pPr indent="0" algn="ctr">
              <a:lnSpc>
                <a:spcPct val="160000"/>
              </a:lnSpc>
              <a:defRPr/>
            </a:pPr>
            <a:r>
              <a:rPr lang="en-US" sz="1600" b="1">
                <a:solidFill>
                  <a:srgbClr val="333333"/>
                </a:solidFill>
                <a:latin typeface="&quot;Yeseva One&quot;"/>
              </a:rPr>
              <a:t>As a Master's intern, I can create a reproducible, lightweight analytics framework that helps Home Depot stabilize comparable sales by identifying and amplifying resilient demand pockets. Thank you for considering this proposal.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1237</Words>
  <Application>Microsoft Macintosh PowerPoint</Application>
  <PresentationFormat>Custom</PresentationFormat>
  <Paragraphs>207</Paragraphs>
  <Slides>11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"Yeseva One"</vt:lpstr>
      <vt:lpstr>Aptos</vt:lpstr>
      <vt:lpstr>Arial</vt:lpstr>
      <vt:lpstr>Calibri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ZhangChuhan</cp:lastModifiedBy>
  <cp:revision>3</cp:revision>
  <dcterms:created xsi:type="dcterms:W3CDTF">2006-08-16T00:00:00Z</dcterms:created>
  <dcterms:modified xsi:type="dcterms:W3CDTF">2025-12-07T02:54:17Z</dcterms:modified>
</cp:coreProperties>
</file>