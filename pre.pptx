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2" r:id="rId6"/>
    <p:sldId id="263" r:id="rId7"/>
    <p:sldId id="269" r:id="rId8"/>
    <p:sldId id="272" r:id="rId9"/>
    <p:sldId id="266" r:id="rId10"/>
    <p:sldId id="270" r:id="rId11"/>
    <p:sldId id="271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 autoAdjust="0"/>
    <p:restoredTop sz="96276" autoAdjust="0"/>
  </p:normalViewPr>
  <p:slideViewPr>
    <p:cSldViewPr>
      <p:cViewPr>
        <p:scale>
          <a:sx n="78" d="100"/>
          <a:sy n="78" d="100"/>
        </p:scale>
        <p:origin x="1048" y="6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AE6907-4262-984B-B528-BCC109B6BBC6}" type="datetimeFigureOut">
              <a:rPr lang="en-US" smtClean="0"/>
              <a:t>12/6/25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CFA895-9440-2B42-A5D1-8830DBC62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020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Poppins"/>
              </a:rPr>
              <a:t>"Sales are highly sensitive to storms and housing turnover, which are largely outside Home Depot's direct control, creating unpredictable swings in quarterly performance."</a:t>
            </a:r>
            <a:endParaRPr lang="en-US" sz="10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FA895-9440-2B42-A5D1-8830DBC6277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466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an intern, I’m not changing the macro environment, but I </a:t>
            </a:r>
            <a:r>
              <a:rPr lang="en-US" i="1" dirty="0"/>
              <a:t>can</a:t>
            </a:r>
            <a:r>
              <a:rPr lang="en-US" dirty="0"/>
              <a:t> help quantify where demand is stable versus fragile.</a:t>
            </a:r>
            <a:br>
              <a:rPr lang="en-US" dirty="0"/>
            </a:br>
            <a:r>
              <a:rPr lang="en-US" dirty="0"/>
              <a:t>The goal is to support more predictable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FA895-9440-2B42-A5D1-8830DBC627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50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FA895-9440-2B42-A5D1-8830DBC6277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22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FA895-9440-2B42-A5D1-8830DBC6277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273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Why This Matters (Call-Back to Problem Statement)</a:t>
            </a:r>
          </a:p>
          <a:p>
            <a:r>
              <a:rPr lang="en-US" dirty="0"/>
              <a:t>Home Depot’s comparable sales have been </a:t>
            </a:r>
            <a:r>
              <a:rPr lang="en-US" b="1" dirty="0"/>
              <a:t>unstable for two years</a:t>
            </a:r>
            <a:r>
              <a:rPr lang="en-US" dirty="0"/>
              <a:t>, moving from </a:t>
            </a:r>
            <a:r>
              <a:rPr lang="en-US" b="1" dirty="0"/>
              <a:t>–3.2% (2023)</a:t>
            </a:r>
            <a:r>
              <a:rPr lang="en-US" dirty="0"/>
              <a:t> to </a:t>
            </a:r>
            <a:r>
              <a:rPr lang="en-US" b="1" dirty="0"/>
              <a:t>–1.8% (2024)</a:t>
            </a:r>
            <a:r>
              <a:rPr lang="en-US" dirty="0"/>
              <a:t> with only a small recovery of </a:t>
            </a:r>
            <a:r>
              <a:rPr lang="en-US" b="1" dirty="0"/>
              <a:t>0.8% to 0.2%</a:t>
            </a:r>
            <a:r>
              <a:rPr lang="en-US" dirty="0"/>
              <a:t> in late 2024–2025.</a:t>
            </a:r>
            <a:br>
              <a:rPr lang="en-US" dirty="0"/>
            </a:br>
            <a:r>
              <a:rPr lang="en-US" dirty="0"/>
              <a:t>This instability reflects </a:t>
            </a:r>
            <a:r>
              <a:rPr lang="en-US" b="1" dirty="0"/>
              <a:t>external pressures</a:t>
            </a:r>
            <a:r>
              <a:rPr lang="en-US" dirty="0"/>
              <a:t> — fewer storms, slower housing turnover, higher mortgage rates — that HD cannot directly control.</a:t>
            </a:r>
          </a:p>
          <a:p>
            <a:r>
              <a:rPr lang="en-US" dirty="0"/>
              <a:t>The Resilience Scorecard provides HD with:</a:t>
            </a:r>
          </a:p>
          <a:p>
            <a:r>
              <a:rPr lang="en-US" b="1" dirty="0"/>
              <a:t>Visibility</a:t>
            </a:r>
            <a:r>
              <a:rPr lang="en-US" dirty="0"/>
              <a:t> into which categories stay stable regardless of external shocks</a:t>
            </a:r>
          </a:p>
          <a:p>
            <a:r>
              <a:rPr lang="en-US" b="1" dirty="0"/>
              <a:t>Signals</a:t>
            </a:r>
            <a:r>
              <a:rPr lang="en-US" dirty="0"/>
              <a:t> that help the business reduce comp volatility</a:t>
            </a:r>
          </a:p>
          <a:p>
            <a:r>
              <a:rPr lang="en-US" b="1" dirty="0"/>
              <a:t>A tool</a:t>
            </a:r>
            <a:r>
              <a:rPr lang="en-US" dirty="0"/>
              <a:t> that guides promo/margin decisions based on stability, not guesswork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FA895-9440-2B42-A5D1-8830DBC627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413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4AC25-0AF0-9CBD-59BB-DCF39A34C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6913DB-8857-776A-95AE-8F711A0F73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E06985-2702-4755-10BB-D7E5C0E00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FF586-2055-DBCC-2E8D-D465FFFD16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FA895-9440-2B42-A5D1-8830DBC6277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21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  <a:ln w="50800">
            <a:solidFill>
              <a:srgbClr val="FFC277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8000" b="8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1000" b="1000"/>
          <a:stretch>
            <a:fillRect/>
          </a:stretch>
        </p:blipFill>
        <p:spPr>
          <a:xfrm>
            <a:off x="50800" y="50800"/>
            <a:ext cx="16129000" cy="9017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50800" y="279400"/>
            <a:ext cx="16129000" cy="9017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5570200" y="190500"/>
            <a:ext cx="469900" cy="4699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8115300" y="1016000"/>
            <a:ext cx="7239000" cy="3771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60000"/>
              </a:lnSpc>
              <a:defRPr/>
            </a:pPr>
            <a:r>
              <a:rPr lang="en-US" sz="4900" b="1" dirty="0">
                <a:solidFill>
                  <a:schemeClr val="accent6">
                    <a:lumMod val="75000"/>
                  </a:schemeClr>
                </a:solidFill>
                <a:latin typeface="&quot;Yeseva One&quot;"/>
              </a:rPr>
              <a:t>Stabilizing Comparable Sales at The Home Depot with Data-Driven Resilience</a:t>
            </a:r>
            <a:endParaRPr lang="en-US" sz="11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115300" y="5080000"/>
            <a:ext cx="72390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50000"/>
              </a:lnSpc>
              <a:defRPr/>
            </a:pPr>
            <a:r>
              <a:rPr lang="en-US" sz="1900" b="1" dirty="0">
                <a:solidFill>
                  <a:srgbClr val="000000"/>
                </a:solidFill>
                <a:latin typeface="Poppins"/>
              </a:rPr>
              <a:t>A proposal exploring how data science can help stabilize fragile comparable sales performance amid weather and housing headwinds.</a:t>
            </a:r>
            <a:endParaRPr lang="en-US" sz="1100" dirty="0"/>
          </a:p>
        </p:txBody>
      </p:sp>
      <p:sp>
        <p:nvSpPr>
          <p:cNvPr id="9" name="TextBox 9"/>
          <p:cNvSpPr txBox="1"/>
          <p:nvPr/>
        </p:nvSpPr>
        <p:spPr>
          <a:xfrm>
            <a:off x="8115300" y="6870700"/>
            <a:ext cx="7239000" cy="939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50000"/>
              </a:lnSpc>
              <a:defRPr/>
            </a:pPr>
            <a:r>
              <a:rPr lang="en-US" sz="4800" dirty="0">
                <a:solidFill>
                  <a:schemeClr val="accent6">
                    <a:lumMod val="75000"/>
                  </a:schemeClr>
                </a:solidFill>
              </a:rPr>
              <a:t>Chuhan (Brynn) Zhang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15300" y="7810500"/>
            <a:ext cx="72390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Data-Driven Proposal • December 2025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  <a:ln w="50800">
            <a:solidFill>
              <a:srgbClr val="FFC277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527300"/>
            <a:ext cx="14490700" cy="4953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76300" y="2527300"/>
            <a:ext cx="3429000" cy="4953000"/>
          </a:xfrm>
          <a:prstGeom prst="rect">
            <a:avLst/>
          </a:prstGeom>
          <a:solidFill>
            <a:srgbClr val="E1A862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130300" y="27813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A37135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4559300" y="2527300"/>
            <a:ext cx="3429000" cy="4953000"/>
          </a:xfrm>
          <a:prstGeom prst="rect">
            <a:avLst/>
          </a:prstGeom>
          <a:solidFill>
            <a:srgbClr val="E1A862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4813300" y="27813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A37135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8242300" y="2527300"/>
            <a:ext cx="3429000" cy="4953000"/>
          </a:xfrm>
          <a:prstGeom prst="rect">
            <a:avLst/>
          </a:prstGeom>
          <a:solidFill>
            <a:srgbClr val="E1A862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8496300" y="27813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A37135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11938000" y="2527300"/>
            <a:ext cx="3429000" cy="4953000"/>
          </a:xfrm>
          <a:prstGeom prst="rect">
            <a:avLst/>
          </a:prstGeom>
          <a:solidFill>
            <a:srgbClr val="E1A862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12179300" y="27813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A37135"/>
          </a:solidFill>
        </p:spPr>
        <p:txBody>
          <a:bodyPr/>
          <a:lstStyle/>
          <a:p>
            <a:endParaRPr lang="en-US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5570200" y="190500"/>
            <a:ext cx="469900" cy="4699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76300" y="16383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 dirty="0">
                <a:solidFill>
                  <a:schemeClr val="accent6">
                    <a:lumMod val="75000"/>
                  </a:schemeClr>
                </a:solidFill>
                <a:latin typeface="Poppins"/>
              </a:rPr>
              <a:t>Context: The Potential Challenge at The Home Depot</a:t>
            </a:r>
            <a:endParaRPr lang="en-US" sz="11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30300" y="3784600"/>
            <a:ext cx="29210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 dirty="0">
                <a:solidFill>
                  <a:srgbClr val="FF6600"/>
                </a:solidFill>
                <a:latin typeface="Poppins"/>
              </a:rPr>
              <a:t>2024: $152.7B</a:t>
            </a:r>
            <a:endParaRPr lang="en-US" sz="1100" dirty="0"/>
          </a:p>
        </p:txBody>
      </p:sp>
      <p:sp>
        <p:nvSpPr>
          <p:cNvPr id="16" name="TextBox 16"/>
          <p:cNvSpPr txBox="1"/>
          <p:nvPr/>
        </p:nvSpPr>
        <p:spPr>
          <a:xfrm>
            <a:off x="4813300" y="3784600"/>
            <a:ext cx="29210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 dirty="0">
                <a:solidFill>
                  <a:srgbClr val="FF6600"/>
                </a:solidFill>
                <a:latin typeface="Poppins"/>
              </a:rPr>
              <a:t>2025: $159.5B</a:t>
            </a:r>
            <a:endParaRPr lang="en-US" sz="1100" dirty="0"/>
          </a:p>
        </p:txBody>
      </p:sp>
      <p:sp>
        <p:nvSpPr>
          <p:cNvPr id="17" name="TextBox 17"/>
          <p:cNvSpPr txBox="1"/>
          <p:nvPr/>
        </p:nvSpPr>
        <p:spPr>
          <a:xfrm>
            <a:off x="8496300" y="3784600"/>
            <a:ext cx="29210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FF6600"/>
                </a:solidFill>
                <a:latin typeface="Poppins"/>
              </a:rPr>
              <a:t>$41.4B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2179300" y="3784600"/>
            <a:ext cx="29210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100900"/>
                </a:solidFill>
                <a:latin typeface="Poppins"/>
              </a:rPr>
              <a:t>Key Headwinds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130300" y="4419600"/>
            <a:ext cx="29210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Fiscal 2023 total sales declined </a:t>
            </a:r>
            <a:r>
              <a:rPr lang="en-US" sz="1600" b="1">
                <a:solidFill>
                  <a:srgbClr val="E74C3C"/>
                </a:solidFill>
                <a:latin typeface="Poppins"/>
              </a:rPr>
              <a:t>3.0%</a:t>
            </a:r>
            <a:r>
              <a:rPr lang="en-US" sz="1900" b="1">
                <a:solidFill>
                  <a:srgbClr val="000000"/>
                </a:solidFill>
                <a:latin typeface="Poppins"/>
              </a:rPr>
              <a:t>, comparable sales down </a:t>
            </a:r>
            <a:r>
              <a:rPr lang="en-US" sz="1600" b="1">
                <a:solidFill>
                  <a:srgbClr val="E74C3C"/>
                </a:solidFill>
                <a:latin typeface="Poppins"/>
              </a:rPr>
              <a:t>3.2%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200150" y="6108700"/>
            <a:ext cx="29210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100" b="1" dirty="0">
                <a:solidFill>
                  <a:schemeClr val="bg1">
                    <a:lumMod val="50000"/>
                  </a:schemeClr>
                </a:solidFill>
                <a:latin typeface="Poppins"/>
              </a:rPr>
              <a:t>Source: Home Depot Investor Relations (2023 Annual Report)</a:t>
            </a:r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813300" y="4419600"/>
            <a:ext cx="29210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 dirty="0">
                <a:solidFill>
                  <a:srgbClr val="000000"/>
                </a:solidFill>
                <a:latin typeface="Poppins"/>
              </a:rPr>
              <a:t>Fiscal 2024 total sales grew </a:t>
            </a: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Poppins"/>
              </a:rPr>
              <a:t>4.5%</a:t>
            </a:r>
            <a:r>
              <a:rPr lang="en-US" sz="1900" b="1" dirty="0">
                <a:solidFill>
                  <a:schemeClr val="accent3">
                    <a:lumMod val="75000"/>
                  </a:schemeClr>
                </a:solidFill>
                <a:latin typeface="Poppins"/>
              </a:rPr>
              <a:t>, </a:t>
            </a:r>
            <a:r>
              <a:rPr lang="en-US" sz="1900" b="1" dirty="0">
                <a:solidFill>
                  <a:srgbClr val="000000"/>
                </a:solidFill>
                <a:latin typeface="Poppins"/>
              </a:rPr>
              <a:t>but comparable sales still declined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Poppins"/>
              </a:rPr>
              <a:t>1.8%</a:t>
            </a:r>
            <a:endParaRPr lang="en-US" sz="11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813300" y="6108700"/>
            <a:ext cx="29210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100" b="1" dirty="0">
                <a:solidFill>
                  <a:schemeClr val="bg1">
                    <a:lumMod val="50000"/>
                  </a:schemeClr>
                </a:solidFill>
                <a:latin typeface="Poppins"/>
              </a:rPr>
              <a:t>Source: Home Depot Investor Relations (2024 Annual Report)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496300" y="4419600"/>
            <a:ext cx="29210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 dirty="0">
                <a:solidFill>
                  <a:srgbClr val="000000"/>
                </a:solidFill>
                <a:latin typeface="Poppins"/>
              </a:rPr>
              <a:t>Q3 2025: sales </a:t>
            </a: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Poppins"/>
              </a:rPr>
              <a:t>+2.8%</a:t>
            </a:r>
            <a:r>
              <a:rPr lang="en-US" sz="1900" b="1" dirty="0">
                <a:solidFill>
                  <a:schemeClr val="accent3">
                    <a:lumMod val="75000"/>
                  </a:schemeClr>
                </a:solidFill>
                <a:latin typeface="Poppins"/>
              </a:rPr>
              <a:t>, </a:t>
            </a:r>
            <a:r>
              <a:rPr lang="en-US" sz="1900" b="1" dirty="0">
                <a:solidFill>
                  <a:srgbClr val="000000"/>
                </a:solidFill>
                <a:latin typeface="Poppins"/>
              </a:rPr>
              <a:t>but comparable sales only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Poppins"/>
              </a:rPr>
              <a:t>+0.2%</a:t>
            </a:r>
            <a:r>
              <a:rPr lang="en-US" sz="1900" b="1" dirty="0">
                <a:solidFill>
                  <a:schemeClr val="accent1">
                    <a:lumMod val="75000"/>
                  </a:schemeClr>
                </a:solidFill>
                <a:latin typeface="Poppins"/>
              </a:rPr>
              <a:t> </a:t>
            </a:r>
            <a:r>
              <a:rPr lang="en-US" sz="1900" b="1" dirty="0">
                <a:solidFill>
                  <a:srgbClr val="000000"/>
                </a:solidFill>
                <a:latin typeface="Poppins"/>
              </a:rPr>
              <a:t>(U.S.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Poppins"/>
              </a:rPr>
              <a:t>+0.1%</a:t>
            </a:r>
            <a:r>
              <a:rPr lang="en-US" sz="1900" b="1" dirty="0">
                <a:solidFill>
                  <a:srgbClr val="000000"/>
                </a:solidFill>
                <a:latin typeface="Poppins"/>
              </a:rPr>
              <a:t>)</a:t>
            </a:r>
            <a:endParaRPr lang="en-US" sz="1100" dirty="0"/>
          </a:p>
        </p:txBody>
      </p:sp>
      <p:sp>
        <p:nvSpPr>
          <p:cNvPr id="24" name="TextBox 24"/>
          <p:cNvSpPr txBox="1"/>
          <p:nvPr/>
        </p:nvSpPr>
        <p:spPr>
          <a:xfrm>
            <a:off x="8496300" y="5727700"/>
            <a:ext cx="29210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100" b="1" dirty="0">
                <a:solidFill>
                  <a:schemeClr val="bg1">
                    <a:lumMod val="50000"/>
                  </a:schemeClr>
                </a:solidFill>
                <a:latin typeface="Poppins"/>
              </a:rPr>
              <a:t>Source: The Home Depot Q3 2025 Earnings Release (Nov 18, 2025)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2206287" y="4610100"/>
            <a:ext cx="29210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 dirty="0">
                <a:solidFill>
                  <a:srgbClr val="000000"/>
                </a:solidFill>
                <a:latin typeface="Poppins"/>
              </a:rPr>
              <a:t>Weather (fewer storms) and housing market weakness</a:t>
            </a:r>
            <a:endParaRPr lang="en-US" sz="1100" dirty="0"/>
          </a:p>
        </p:txBody>
      </p:sp>
      <p:sp>
        <p:nvSpPr>
          <p:cNvPr id="26" name="TextBox 26"/>
          <p:cNvSpPr txBox="1"/>
          <p:nvPr/>
        </p:nvSpPr>
        <p:spPr>
          <a:xfrm>
            <a:off x="12179300" y="5961062"/>
            <a:ext cx="29210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100" b="1" dirty="0">
                <a:solidFill>
                  <a:schemeClr val="bg1">
                    <a:lumMod val="50000"/>
                  </a:schemeClr>
                </a:solidFill>
                <a:latin typeface="Poppins"/>
              </a:rPr>
              <a:t>Source: CEO Ted Decker quote from Q3 2025 earnings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384300" y="3035300"/>
            <a:ext cx="241300" cy="2413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067300" y="3035300"/>
            <a:ext cx="241300" cy="2413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750300" y="3035300"/>
            <a:ext cx="241300" cy="2413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2433300" y="30353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  <a:ln w="50800">
            <a:solidFill>
              <a:srgbClr val="FFC277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384300"/>
            <a:ext cx="14490700" cy="7137400"/>
          </a:xfrm>
          <a:prstGeom prst="rect">
            <a:avLst/>
          </a:prstGeom>
          <a:solidFill>
            <a:srgbClr val="E1A862"/>
          </a:solidFill>
        </p:spPr>
        <p:txBody>
          <a:bodyPr/>
          <a:lstStyle/>
          <a:p>
            <a:endParaRPr lang="en-US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7000" b="7000"/>
          <a:stretch>
            <a:fillRect/>
          </a:stretch>
        </p:blipFill>
        <p:spPr>
          <a:xfrm>
            <a:off x="15570200" y="165100"/>
            <a:ext cx="469900" cy="406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9900" y="1384300"/>
            <a:ext cx="12738100" cy="7137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876300" y="609600"/>
            <a:ext cx="14490700" cy="520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400" b="1" dirty="0">
                <a:solidFill>
                  <a:schemeClr val="accent6">
                    <a:lumMod val="75000"/>
                  </a:schemeClr>
                </a:solidFill>
                <a:latin typeface="Poppins"/>
              </a:rPr>
              <a:t>Home Depot's Revenue Scale (2021–2025)</a:t>
            </a:r>
            <a:endParaRPr lang="en-US" sz="11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  <a:ln w="50800">
            <a:solidFill>
              <a:srgbClr val="FFC277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384300"/>
            <a:ext cx="14490700" cy="7137400"/>
          </a:xfrm>
          <a:prstGeom prst="rect">
            <a:avLst/>
          </a:prstGeom>
          <a:solidFill>
            <a:srgbClr val="E1A862"/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7000" b="7000"/>
          <a:stretch>
            <a:fillRect/>
          </a:stretch>
        </p:blipFill>
        <p:spPr>
          <a:xfrm>
            <a:off x="15570200" y="165100"/>
            <a:ext cx="469900" cy="406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9900" y="1384300"/>
            <a:ext cx="12738100" cy="7137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876300" y="609600"/>
            <a:ext cx="14490700" cy="520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400" b="1" dirty="0">
                <a:solidFill>
                  <a:schemeClr val="accent6">
                    <a:lumMod val="75000"/>
                  </a:schemeClr>
                </a:solidFill>
                <a:latin typeface="Poppins"/>
              </a:rPr>
              <a:t>The Weak Link: Comparable Sales Trend</a:t>
            </a:r>
            <a:endParaRPr lang="en-US" sz="11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  <a:ln w="50800">
            <a:solidFill>
              <a:srgbClr val="FFC277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6731000" y="3619500"/>
            <a:ext cx="1257300" cy="1257300"/>
          </a:xfrm>
          <a:prstGeom prst="rect">
            <a:avLst/>
          </a:prstGeom>
          <a:solidFill>
            <a:srgbClr val="D49446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8242300" y="3619500"/>
            <a:ext cx="1257300" cy="1257300"/>
          </a:xfrm>
          <a:prstGeom prst="rect">
            <a:avLst/>
          </a:prstGeom>
          <a:solidFill>
            <a:srgbClr val="D49446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8242300" y="5130800"/>
            <a:ext cx="1257300" cy="1257300"/>
          </a:xfrm>
          <a:prstGeom prst="rect">
            <a:avLst/>
          </a:prstGeom>
          <a:solidFill>
            <a:srgbClr val="D49446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6731000" y="5130800"/>
            <a:ext cx="1257300" cy="1257300"/>
          </a:xfrm>
          <a:prstGeom prst="rect">
            <a:avLst/>
          </a:prstGeom>
          <a:solidFill>
            <a:srgbClr val="D49446"/>
          </a:solidFill>
        </p:spPr>
        <p:txBody>
          <a:bodyPr/>
          <a:lstStyle/>
          <a:p>
            <a:endParaRPr lang="en-US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5570200" y="190500"/>
            <a:ext cx="469900" cy="469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858395" y="856051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 dirty="0">
                <a:solidFill>
                  <a:schemeClr val="accent6">
                    <a:lumMod val="75000"/>
                  </a:schemeClr>
                </a:solidFill>
                <a:latin typeface="Poppins"/>
              </a:rPr>
              <a:t>Problem Statement:</a:t>
            </a:r>
            <a:endParaRPr lang="en-US" sz="11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76990" y="2393325"/>
            <a:ext cx="5600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20000"/>
              </a:lnSpc>
              <a:defRPr/>
            </a:pPr>
            <a:r>
              <a:rPr lang="en-US" sz="2900" b="1" dirty="0">
                <a:solidFill>
                  <a:srgbClr val="100900"/>
                </a:solidFill>
                <a:latin typeface="Poppins"/>
              </a:rPr>
              <a:t>Observable Problem</a:t>
            </a:r>
            <a:endParaRPr lang="en-US" sz="1100" dirty="0"/>
          </a:p>
        </p:txBody>
      </p:sp>
      <p:sp>
        <p:nvSpPr>
          <p:cNvPr id="12" name="TextBox 12"/>
          <p:cNvSpPr txBox="1"/>
          <p:nvPr/>
        </p:nvSpPr>
        <p:spPr>
          <a:xfrm>
            <a:off x="9766300" y="2052194"/>
            <a:ext cx="5600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 dirty="0">
                <a:solidFill>
                  <a:srgbClr val="100900"/>
                </a:solidFill>
                <a:latin typeface="Poppins"/>
              </a:rPr>
              <a:t>Root Causes (External)</a:t>
            </a:r>
            <a:endParaRPr lang="en-US" sz="1100" dirty="0"/>
          </a:p>
        </p:txBody>
      </p:sp>
      <p:sp>
        <p:nvSpPr>
          <p:cNvPr id="13" name="TextBox 13"/>
          <p:cNvSpPr txBox="1"/>
          <p:nvPr/>
        </p:nvSpPr>
        <p:spPr>
          <a:xfrm>
            <a:off x="9788369" y="5075731"/>
            <a:ext cx="5600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 dirty="0">
                <a:solidFill>
                  <a:srgbClr val="100900"/>
                </a:solidFill>
                <a:latin typeface="Poppins"/>
              </a:rPr>
              <a:t>Opportunity</a:t>
            </a:r>
            <a:endParaRPr lang="en-US" sz="1100" dirty="0"/>
          </a:p>
        </p:txBody>
      </p:sp>
      <p:sp>
        <p:nvSpPr>
          <p:cNvPr id="14" name="TextBox 14"/>
          <p:cNvSpPr txBox="1"/>
          <p:nvPr/>
        </p:nvSpPr>
        <p:spPr>
          <a:xfrm>
            <a:off x="767413" y="5418268"/>
            <a:ext cx="5600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20000"/>
              </a:lnSpc>
              <a:defRPr/>
            </a:pPr>
            <a:r>
              <a:rPr lang="en-US" sz="2900" b="1" dirty="0">
                <a:solidFill>
                  <a:srgbClr val="100900"/>
                </a:solidFill>
                <a:latin typeface="Poppins"/>
              </a:rPr>
              <a:t>Why Matters</a:t>
            </a:r>
            <a:endParaRPr lang="en-US" sz="1100" dirty="0"/>
          </a:p>
        </p:txBody>
      </p:sp>
      <p:sp>
        <p:nvSpPr>
          <p:cNvPr id="15" name="TextBox 15"/>
          <p:cNvSpPr txBox="1"/>
          <p:nvPr/>
        </p:nvSpPr>
        <p:spPr>
          <a:xfrm>
            <a:off x="876300" y="3060700"/>
            <a:ext cx="56007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50000"/>
              </a:lnSpc>
              <a:defRPr/>
            </a:pPr>
            <a:r>
              <a:rPr lang="en-US" sz="1900" b="1" dirty="0">
                <a:solidFill>
                  <a:srgbClr val="000000"/>
                </a:solidFill>
                <a:latin typeface="Poppins"/>
              </a:rPr>
              <a:t>Comparable sales have been inconsistent across recent years despite Home Depot’s strong overall revenue base.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66300" y="2605788"/>
            <a:ext cx="56007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900" b="1" dirty="0">
                <a:solidFill>
                  <a:srgbClr val="000000"/>
                </a:solidFill>
                <a:latin typeface="Poppins"/>
              </a:rPr>
              <a:t>Fewer storms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900" b="1" dirty="0">
                <a:solidFill>
                  <a:srgbClr val="000000"/>
                </a:solidFill>
                <a:latin typeface="Poppins"/>
              </a:rPr>
              <a:t>sluggish housing turnover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900" b="1" dirty="0">
                <a:solidFill>
                  <a:srgbClr val="000000"/>
                </a:solidFill>
                <a:latin typeface="Poppins"/>
              </a:rPr>
              <a:t>elevated mortgage rates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900" b="1" dirty="0">
                <a:solidFill>
                  <a:srgbClr val="000000"/>
                </a:solidFill>
                <a:latin typeface="Poppins"/>
              </a:rPr>
              <a:t>consumer uncertainty</a:t>
            </a:r>
            <a:endParaRPr lang="en-US" sz="1100" dirty="0"/>
          </a:p>
        </p:txBody>
      </p:sp>
      <p:sp>
        <p:nvSpPr>
          <p:cNvPr id="17" name="TextBox 17"/>
          <p:cNvSpPr txBox="1"/>
          <p:nvPr/>
        </p:nvSpPr>
        <p:spPr>
          <a:xfrm>
            <a:off x="9840106" y="6390494"/>
            <a:ext cx="5600700" cy="1708774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900" dirty="0">
                <a:solidFill>
                  <a:srgbClr val="000000"/>
                </a:solidFill>
                <a:latin typeface="Poppins"/>
              </a:rPr>
              <a:t>Build a Resilience Metrics that quantifies:</a:t>
            </a:r>
            <a:endParaRPr lang="en-US" dirty="0">
              <a:solidFill>
                <a:srgbClr val="000000"/>
              </a:solidFill>
              <a:latin typeface="Poppins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Poppins"/>
              </a:rPr>
              <a:t>Which categories are stable or volatile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Poppins"/>
              </a:rPr>
              <a:t>Which regions are more weather-sensitive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Poppins"/>
              </a:rPr>
              <a:t>Which customer segments maintain steady demand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90770" y="6298056"/>
            <a:ext cx="5600700" cy="1708774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r">
              <a:lnSpc>
                <a:spcPct val="150000"/>
              </a:lnSpc>
              <a:defRPr/>
            </a:pPr>
            <a:endParaRPr lang="en-US" sz="1900" b="1" dirty="0">
              <a:solidFill>
                <a:srgbClr val="000000"/>
              </a:solidFill>
              <a:latin typeface="Poppins"/>
            </a:endParaRPr>
          </a:p>
          <a:p>
            <a:pPr algn="r">
              <a:lnSpc>
                <a:spcPct val="150000"/>
              </a:lnSpc>
              <a:defRPr/>
            </a:pPr>
            <a:endParaRPr lang="en-US" sz="1900" b="1" dirty="0">
              <a:solidFill>
                <a:srgbClr val="000000"/>
              </a:solidFill>
              <a:latin typeface="Poppins"/>
            </a:endParaRPr>
          </a:p>
          <a:p>
            <a:pPr algn="r">
              <a:lnSpc>
                <a:spcPct val="150000"/>
              </a:lnSpc>
              <a:defRPr/>
            </a:pPr>
            <a:r>
              <a:rPr lang="en-US" sz="1900" dirty="0">
                <a:solidFill>
                  <a:srgbClr val="000000"/>
                </a:solidFill>
                <a:latin typeface="Poppins"/>
              </a:rPr>
              <a:t>Identify and strengthen the most resilient demand pockets:</a:t>
            </a:r>
          </a:p>
          <a:p>
            <a:pPr marL="342900" indent="-342900" algn="r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900" b="1" dirty="0">
                <a:solidFill>
                  <a:srgbClr val="000000"/>
                </a:solidFill>
                <a:latin typeface="Poppins"/>
              </a:rPr>
              <a:t>Reduce comp volatility</a:t>
            </a:r>
          </a:p>
          <a:p>
            <a:pPr marL="342900" indent="-342900" algn="r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900" b="1" dirty="0">
                <a:solidFill>
                  <a:srgbClr val="000000"/>
                </a:solidFill>
                <a:latin typeface="Poppins"/>
              </a:rPr>
              <a:t>Build more predictable sales performance</a:t>
            </a:r>
          </a:p>
          <a:p>
            <a:pPr marL="342900" indent="-342900" algn="r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900" b="1" dirty="0">
                <a:solidFill>
                  <a:srgbClr val="000000"/>
                </a:solidFill>
                <a:latin typeface="Poppins"/>
              </a:rPr>
              <a:t>Soften the impact of external shocks</a:t>
            </a:r>
          </a:p>
          <a:p>
            <a:pPr indent="0" algn="r">
              <a:lnSpc>
                <a:spcPct val="150000"/>
              </a:lnSpc>
              <a:defRPr/>
            </a:pPr>
            <a:endParaRPr lang="en-US" sz="1900" b="1" dirty="0">
              <a:solidFill>
                <a:srgbClr val="000000"/>
              </a:solidFill>
              <a:latin typeface="Poppins"/>
            </a:endParaRPr>
          </a:p>
          <a:p>
            <a:pPr indent="0" algn="r">
              <a:lnSpc>
                <a:spcPct val="150000"/>
              </a:lnSpc>
              <a:defRPr/>
            </a:pPr>
            <a:endParaRPr lang="en-US" sz="1900" b="1" dirty="0">
              <a:solidFill>
                <a:srgbClr val="000000"/>
              </a:solidFill>
              <a:latin typeface="Poppins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239000" y="4127500"/>
            <a:ext cx="241300" cy="2413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750300" y="4127500"/>
            <a:ext cx="241300" cy="2413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rcRect l="14000" r="14000"/>
          <a:stretch>
            <a:fillRect/>
          </a:stretch>
        </p:blipFill>
        <p:spPr>
          <a:xfrm>
            <a:off x="8788400" y="5638800"/>
            <a:ext cx="177800" cy="2413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239000" y="56388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  <a:ln w="50800">
            <a:solidFill>
              <a:srgbClr val="FFC277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714500"/>
            <a:ext cx="14490700" cy="5765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76300" y="1714500"/>
            <a:ext cx="4826000" cy="5765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876300" y="1714500"/>
            <a:ext cx="4826000" cy="787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5702300" y="1714500"/>
            <a:ext cx="4826000" cy="5765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5702300" y="1714500"/>
            <a:ext cx="4826000" cy="787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10541000" y="1714500"/>
            <a:ext cx="4826000" cy="5765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10541000" y="1714500"/>
            <a:ext cx="4826000" cy="787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714500"/>
            <a:ext cx="3810000" cy="787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600" y="1714500"/>
            <a:ext cx="3810000" cy="787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300" y="1714500"/>
            <a:ext cx="3810000" cy="787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rcRect t="11000" b="11000"/>
          <a:stretch>
            <a:fillRect/>
          </a:stretch>
        </p:blipFill>
        <p:spPr>
          <a:xfrm>
            <a:off x="15570200" y="152400"/>
            <a:ext cx="469900" cy="3683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876300" y="533400"/>
            <a:ext cx="14490700" cy="939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100" b="1" dirty="0">
                <a:solidFill>
                  <a:schemeClr val="accent6">
                    <a:lumMod val="75000"/>
                  </a:schemeClr>
                </a:solidFill>
                <a:latin typeface="Poppins"/>
              </a:rPr>
              <a:t>Proposed Solution: Comparable Sales Resilience Scorecard</a:t>
            </a:r>
            <a:endParaRPr lang="en-US" sz="11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30300" y="2743200"/>
            <a:ext cx="43180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00" b="1" dirty="0">
                <a:solidFill>
                  <a:srgbClr val="100900"/>
                </a:solidFill>
                <a:latin typeface="Poppins"/>
              </a:rPr>
              <a:t>Data Inputs</a:t>
            </a:r>
            <a:endParaRPr lang="en-US" sz="1100" dirty="0"/>
          </a:p>
        </p:txBody>
      </p:sp>
      <p:sp>
        <p:nvSpPr>
          <p:cNvPr id="17" name="TextBox 17"/>
          <p:cNvSpPr txBox="1"/>
          <p:nvPr/>
        </p:nvSpPr>
        <p:spPr>
          <a:xfrm>
            <a:off x="5956300" y="2743200"/>
            <a:ext cx="43180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00" b="1">
                <a:solidFill>
                  <a:srgbClr val="100900"/>
                </a:solidFill>
                <a:latin typeface="Poppins"/>
              </a:rPr>
              <a:t>Analytics Engine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0795000" y="2743200"/>
            <a:ext cx="43180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00" b="1">
                <a:solidFill>
                  <a:srgbClr val="100900"/>
                </a:solidFill>
                <a:latin typeface="Poppins"/>
              </a:rPr>
              <a:t>Outputs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384300" y="3251200"/>
            <a:ext cx="4064000" cy="58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50000"/>
              </a:lnSpc>
              <a:defRPr/>
            </a:pPr>
            <a:r>
              <a:rPr lang="en-US" sz="1600" dirty="0">
                <a:latin typeface="Poppins" pitchFamily="2" charset="77"/>
                <a:cs typeface="Poppins" pitchFamily="2" charset="77"/>
              </a:rPr>
              <a:t>Weekly/monthly </a:t>
            </a:r>
            <a:r>
              <a:rPr lang="en-US" sz="1600" b="1" dirty="0">
                <a:solidFill>
                  <a:srgbClr val="100900"/>
                </a:solidFill>
                <a:latin typeface="Poppins" pitchFamily="2" charset="77"/>
                <a:cs typeface="Poppins" pitchFamily="2" charset="77"/>
              </a:rPr>
              <a:t>sales</a:t>
            </a:r>
            <a:r>
              <a:rPr lang="en-US" sz="1600" b="1" dirty="0">
                <a:latin typeface="Poppins" pitchFamily="2" charset="77"/>
                <a:cs typeface="Poppins" pitchFamily="2" charset="77"/>
              </a:rPr>
              <a:t> at store </a:t>
            </a:r>
            <a:r>
              <a:rPr lang="en-US" sz="1600" dirty="0">
                <a:latin typeface="Poppins" pitchFamily="2" charset="77"/>
                <a:cs typeface="Poppins" pitchFamily="2" charset="77"/>
              </a:rPr>
              <a:t>and region level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84300" y="4000500"/>
            <a:ext cx="4064000" cy="889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50000"/>
              </a:lnSpc>
              <a:defRPr/>
            </a:pPr>
            <a:r>
              <a:rPr lang="en-US" sz="1600" b="1" dirty="0">
                <a:latin typeface="Poppins" pitchFamily="2" charset="77"/>
                <a:cs typeface="Poppins" pitchFamily="2" charset="77"/>
              </a:rPr>
              <a:t>Comparable sales </a:t>
            </a:r>
            <a:r>
              <a:rPr lang="en-US" sz="1600" dirty="0">
                <a:latin typeface="Poppins" pitchFamily="2" charset="77"/>
                <a:cs typeface="Poppins" pitchFamily="2" charset="77"/>
              </a:rPr>
              <a:t>by category (roofing, lumber, consumables, paint, etc.)</a:t>
            </a:r>
            <a:endParaRPr lang="en-US" sz="11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84300" y="5041900"/>
            <a:ext cx="4064000" cy="58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50000"/>
              </a:lnSpc>
              <a:defRPr/>
            </a:pPr>
            <a:r>
              <a:rPr lang="en-US" sz="1600" b="1" dirty="0">
                <a:latin typeface="Poppins" pitchFamily="2" charset="77"/>
                <a:cs typeface="Poppins" pitchFamily="2" charset="77"/>
              </a:rPr>
              <a:t>Indicators</a:t>
            </a:r>
            <a:r>
              <a:rPr lang="en-US" sz="1600" dirty="0">
                <a:latin typeface="Poppins" pitchFamily="2" charset="77"/>
                <a:cs typeface="Poppins" pitchFamily="2" charset="77"/>
              </a:rPr>
              <a:t> for storm-affected vs normal periods</a:t>
            </a:r>
            <a:endParaRPr lang="en-US" sz="11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384300" y="5803900"/>
            <a:ext cx="4064000" cy="58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50000"/>
              </a:lnSpc>
              <a:defRPr/>
            </a:pPr>
            <a:r>
              <a:rPr lang="en-US" sz="1600" b="1" dirty="0">
                <a:latin typeface="Poppins" pitchFamily="2" charset="77"/>
                <a:cs typeface="Poppins" pitchFamily="2" charset="77"/>
              </a:rPr>
              <a:t>Channel mix</a:t>
            </a:r>
            <a:r>
              <a:rPr lang="en-US" sz="1600" dirty="0">
                <a:latin typeface="Poppins" pitchFamily="2" charset="77"/>
                <a:cs typeface="Poppins" pitchFamily="2" charset="77"/>
              </a:rPr>
              <a:t>: digital, in-store, Pro, and DIY</a:t>
            </a:r>
            <a:endParaRPr lang="en-US" sz="11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197600" y="3175000"/>
            <a:ext cx="4064000" cy="889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50000"/>
              </a:lnSpc>
              <a:defRPr/>
            </a:pPr>
            <a:r>
              <a:rPr lang="en-US" sz="1600" b="1" dirty="0">
                <a:latin typeface="Poppins" pitchFamily="2" charset="77"/>
                <a:cs typeface="Poppins" pitchFamily="2" charset="77"/>
              </a:rPr>
              <a:t>Volatility:</a:t>
            </a:r>
            <a:r>
              <a:rPr lang="en-US" sz="1600" dirty="0">
                <a:latin typeface="Poppins" pitchFamily="2" charset="77"/>
                <a:cs typeface="Poppins" pitchFamily="2" charset="77"/>
              </a:rPr>
              <a:t> rolling standard deviation of weekly comps by category</a:t>
            </a:r>
            <a:endParaRPr lang="en-US" sz="11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210300" y="4166434"/>
            <a:ext cx="4064000" cy="889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50000"/>
              </a:lnSpc>
              <a:defRPr/>
            </a:pPr>
            <a:r>
              <a:rPr lang="en-US" sz="1600" b="1" dirty="0">
                <a:latin typeface="Poppins" pitchFamily="2" charset="77"/>
                <a:cs typeface="Poppins" pitchFamily="2" charset="77"/>
              </a:rPr>
              <a:t>Recovery:</a:t>
            </a:r>
            <a:r>
              <a:rPr lang="en-US" sz="1600" dirty="0">
                <a:latin typeface="Poppins" pitchFamily="2" charset="77"/>
                <a:cs typeface="Poppins" pitchFamily="2" charset="77"/>
              </a:rPr>
              <a:t> how quickly categories rebound after macro or weather shocks</a:t>
            </a:r>
            <a:endParaRPr lang="en-US" sz="11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210300" y="5181600"/>
            <a:ext cx="4064000" cy="889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50000"/>
              </a:lnSpc>
              <a:defRPr/>
            </a:pPr>
            <a:r>
              <a:rPr lang="en-US" sz="1600" b="1" dirty="0">
                <a:latin typeface="Poppins" pitchFamily="2" charset="77"/>
                <a:cs typeface="Poppins" pitchFamily="2" charset="77"/>
              </a:rPr>
              <a:t>Digital mix:</a:t>
            </a:r>
            <a:r>
              <a:rPr lang="en-US" sz="1600" dirty="0">
                <a:latin typeface="Poppins" pitchFamily="2" charset="77"/>
                <a:cs typeface="Poppins" pitchFamily="2" charset="77"/>
              </a:rPr>
              <a:t> share of each category flowing through digital channels</a:t>
            </a:r>
            <a:endParaRPr lang="en-US" sz="11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197600" y="6250690"/>
            <a:ext cx="4064000" cy="889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50000"/>
              </a:lnSpc>
              <a:defRPr/>
            </a:pPr>
            <a:r>
              <a:rPr lang="en-US" sz="1600" b="1" dirty="0">
                <a:latin typeface="Poppins" pitchFamily="2" charset="77"/>
                <a:cs typeface="Poppins" pitchFamily="2" charset="77"/>
              </a:rPr>
              <a:t>Resilience Index:</a:t>
            </a:r>
            <a:r>
              <a:rPr lang="en-US" sz="1600" dirty="0">
                <a:latin typeface="Poppins" pitchFamily="2" charset="77"/>
                <a:cs typeface="Poppins" pitchFamily="2" charset="77"/>
              </a:rPr>
              <a:t> composite score blending volatility + recovery patterns</a:t>
            </a:r>
            <a:endParaRPr lang="en-US" sz="11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1036300" y="3251200"/>
            <a:ext cx="4064000" cy="889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50000"/>
              </a:lnSpc>
              <a:defRPr/>
            </a:pPr>
            <a:r>
              <a:rPr lang="en-US" sz="1600" b="1" dirty="0">
                <a:latin typeface="Poppins" pitchFamily="2" charset="77"/>
                <a:cs typeface="Poppins" pitchFamily="2" charset="77"/>
              </a:rPr>
              <a:t>Category resilience scores</a:t>
            </a:r>
            <a:br>
              <a:rPr lang="en-US" sz="1600" dirty="0">
                <a:latin typeface="Poppins" pitchFamily="2" charset="77"/>
                <a:cs typeface="Poppins" pitchFamily="2" charset="77"/>
              </a:rPr>
            </a:br>
            <a:r>
              <a:rPr lang="en-US" sz="1600" dirty="0">
                <a:latin typeface="Poppins" pitchFamily="2" charset="77"/>
                <a:cs typeface="Poppins" pitchFamily="2" charset="77"/>
              </a:rPr>
              <a:t>(e.g., roofing = low resilience in no-storm periods; paint = high)</a:t>
            </a:r>
            <a:endParaRPr lang="en-US" sz="11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1036300" y="4292600"/>
            <a:ext cx="4064000" cy="889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50000"/>
              </a:lnSpc>
              <a:defRPr/>
            </a:pPr>
            <a:r>
              <a:rPr lang="en-US" sz="1600" b="1" dirty="0">
                <a:latin typeface="Poppins" pitchFamily="2" charset="77"/>
                <a:cs typeface="Poppins" pitchFamily="2" charset="77"/>
              </a:rPr>
              <a:t>Regional vulnerability map</a:t>
            </a:r>
            <a:br>
              <a:rPr lang="en-US" sz="1600" dirty="0">
                <a:latin typeface="Poppins" pitchFamily="2" charset="77"/>
                <a:cs typeface="Poppins" pitchFamily="2" charset="77"/>
              </a:rPr>
            </a:br>
            <a:r>
              <a:rPr lang="en-US" sz="1600" dirty="0">
                <a:latin typeface="Poppins" pitchFamily="2" charset="77"/>
                <a:cs typeface="Poppins" pitchFamily="2" charset="77"/>
              </a:rPr>
              <a:t>highlighting weather-sensitive geographies</a:t>
            </a:r>
            <a:endParaRPr lang="en-US" sz="11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1036300" y="5346700"/>
            <a:ext cx="4064000" cy="889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50000"/>
              </a:lnSpc>
              <a:defRPr/>
            </a:pPr>
            <a:r>
              <a:rPr lang="en-US" sz="1600" b="1" dirty="0">
                <a:latin typeface="Poppins" pitchFamily="2" charset="77"/>
                <a:cs typeface="Poppins" pitchFamily="2" charset="77"/>
              </a:rPr>
              <a:t>Actionable segments:</a:t>
            </a:r>
            <a:br>
              <a:rPr lang="en-US" sz="1600" dirty="0">
                <a:latin typeface="Poppins" pitchFamily="2" charset="77"/>
                <a:cs typeface="Poppins" pitchFamily="2" charset="77"/>
              </a:rPr>
            </a:br>
            <a:r>
              <a:rPr lang="en-US" sz="1600" dirty="0">
                <a:latin typeface="Poppins" pitchFamily="2" charset="77"/>
                <a:cs typeface="Poppins" pitchFamily="2" charset="77"/>
              </a:rPr>
              <a:t>“fragile but important” vs “inherently resilient” categories</a:t>
            </a:r>
            <a:endParaRPr lang="en-US" sz="11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1036300" y="6388100"/>
            <a:ext cx="4064000" cy="889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50000"/>
              </a:lnSpc>
              <a:defRPr/>
            </a:pPr>
            <a:r>
              <a:rPr lang="en-US" sz="1600" b="1" dirty="0">
                <a:latin typeface="Poppins" pitchFamily="2" charset="77"/>
                <a:cs typeface="Poppins" pitchFamily="2" charset="77"/>
              </a:rPr>
              <a:t>Recommended playbooks:</a:t>
            </a:r>
            <a:br>
              <a:rPr lang="en-US" sz="1600" dirty="0">
                <a:latin typeface="Poppins" pitchFamily="2" charset="77"/>
                <a:cs typeface="Poppins" pitchFamily="2" charset="77"/>
              </a:rPr>
            </a:br>
            <a:r>
              <a:rPr lang="en-US" sz="1600" dirty="0">
                <a:latin typeface="Poppins" pitchFamily="2" charset="77"/>
                <a:cs typeface="Poppins" pitchFamily="2" charset="77"/>
              </a:rPr>
              <a:t>where to push promo, where to protect margin</a:t>
            </a:r>
            <a:endParaRPr lang="en-US" sz="11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876300" y="7708900"/>
            <a:ext cx="14490700" cy="889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 dirty="0">
                <a:solidFill>
                  <a:srgbClr val="000000"/>
                </a:solidFill>
                <a:latin typeface="Poppins"/>
              </a:rPr>
              <a:t>This framework ties directly to Home Depot's strategic priorities: omnichannel optimization, Pro channel growth, and data-driven merchandising. </a:t>
            </a:r>
            <a:endParaRPr lang="en-US" sz="1100" dirty="0"/>
          </a:p>
        </p:txBody>
      </p:sp>
      <p:sp>
        <p:nvSpPr>
          <p:cNvPr id="32" name="TextBox 32"/>
          <p:cNvSpPr txBox="1"/>
          <p:nvPr/>
        </p:nvSpPr>
        <p:spPr>
          <a:xfrm>
            <a:off x="1003300" y="32893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1003300" y="40386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1003300" y="50927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1003300" y="58420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5829300" y="32893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5829300" y="43434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5829300" y="53848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9" name="TextBox 39"/>
          <p:cNvSpPr txBox="1"/>
          <p:nvPr/>
        </p:nvSpPr>
        <p:spPr>
          <a:xfrm>
            <a:off x="5829300" y="64389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10668000" y="32893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10668000" y="43434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2" name="TextBox 42"/>
          <p:cNvSpPr txBox="1"/>
          <p:nvPr/>
        </p:nvSpPr>
        <p:spPr>
          <a:xfrm>
            <a:off x="10668000" y="53848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3" name="TextBox 43"/>
          <p:cNvSpPr txBox="1"/>
          <p:nvPr/>
        </p:nvSpPr>
        <p:spPr>
          <a:xfrm>
            <a:off x="10668000" y="64389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6"/>
          <a:srcRect t="6000" b="6000"/>
          <a:stretch>
            <a:fillRect/>
          </a:stretch>
        </p:blipFill>
        <p:spPr>
          <a:xfrm>
            <a:off x="3175000" y="2006600"/>
            <a:ext cx="215900" cy="1905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7"/>
          <a:srcRect t="11000" b="11000"/>
          <a:stretch>
            <a:fillRect/>
          </a:stretch>
        </p:blipFill>
        <p:spPr>
          <a:xfrm>
            <a:off x="8001000" y="2006600"/>
            <a:ext cx="241300" cy="1905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8"/>
          <a:srcRect t="11000" b="11000"/>
          <a:stretch>
            <a:fillRect/>
          </a:stretch>
        </p:blipFill>
        <p:spPr>
          <a:xfrm>
            <a:off x="12827000" y="2006600"/>
            <a:ext cx="2413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  <a:ln w="50800">
            <a:solidFill>
              <a:srgbClr val="FFC277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358900"/>
            <a:ext cx="14490700" cy="6032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76300" y="1600200"/>
            <a:ext cx="14490700" cy="12700"/>
          </a:xfrm>
          <a:prstGeom prst="rect">
            <a:avLst/>
          </a:prstGeom>
          <a:solidFill>
            <a:srgbClr val="BA8039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876300" y="1358900"/>
            <a:ext cx="4610100" cy="6032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2908300" y="1358900"/>
            <a:ext cx="558800" cy="482600"/>
          </a:xfrm>
          <a:prstGeom prst="rect">
            <a:avLst/>
          </a:prstGeom>
          <a:solidFill>
            <a:srgbClr val="D49446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3175000" y="1600200"/>
            <a:ext cx="12700" cy="647700"/>
          </a:xfrm>
          <a:prstGeom prst="rect">
            <a:avLst/>
          </a:prstGeom>
          <a:solidFill>
            <a:srgbClr val="BA8039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1130300" y="2413000"/>
            <a:ext cx="4114800" cy="4813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5816600" y="1358900"/>
            <a:ext cx="4610100" cy="6032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7835900" y="1358900"/>
            <a:ext cx="558800" cy="482600"/>
          </a:xfrm>
          <a:prstGeom prst="rect">
            <a:avLst/>
          </a:prstGeom>
          <a:solidFill>
            <a:srgbClr val="D49446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8102600" y="1600200"/>
            <a:ext cx="12700" cy="647700"/>
          </a:xfrm>
          <a:prstGeom prst="rect">
            <a:avLst/>
          </a:prstGeom>
          <a:solidFill>
            <a:srgbClr val="BA8039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6057900" y="2413000"/>
            <a:ext cx="4114800" cy="4978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10744200" y="1358900"/>
            <a:ext cx="4610100" cy="6032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12776200" y="1358900"/>
            <a:ext cx="558800" cy="482600"/>
          </a:xfrm>
          <a:prstGeom prst="rect">
            <a:avLst/>
          </a:prstGeom>
          <a:solidFill>
            <a:srgbClr val="D49446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13042900" y="1600200"/>
            <a:ext cx="12700" cy="647700"/>
          </a:xfrm>
          <a:prstGeom prst="rect">
            <a:avLst/>
          </a:prstGeom>
          <a:solidFill>
            <a:srgbClr val="BA8039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>
            <a:off x="10998200" y="2413000"/>
            <a:ext cx="4114800" cy="448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876300" y="7645400"/>
            <a:ext cx="12700" cy="647700"/>
          </a:xfrm>
          <a:prstGeom prst="rect">
            <a:avLst/>
          </a:prstGeom>
          <a:solidFill>
            <a:srgbClr val="D49446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876300" y="596900"/>
            <a:ext cx="14490700" cy="520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400" b="1" dirty="0">
                <a:solidFill>
                  <a:schemeClr val="accent6">
                    <a:lumMod val="75000"/>
                  </a:schemeClr>
                </a:solidFill>
                <a:latin typeface="Poppins"/>
              </a:rPr>
              <a:t>Deliverables: (What I Can Do)</a:t>
            </a:r>
            <a:endParaRPr lang="en-US" sz="11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30300" y="2413000"/>
            <a:ext cx="41148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500" b="1" dirty="0">
                <a:solidFill>
                  <a:srgbClr val="100900"/>
                </a:solidFill>
                <a:latin typeface="Poppins"/>
              </a:rPr>
              <a:t>Phase 1:</a:t>
            </a:r>
            <a:endParaRPr lang="en-US" sz="1100" dirty="0"/>
          </a:p>
        </p:txBody>
      </p:sp>
      <p:sp>
        <p:nvSpPr>
          <p:cNvPr id="21" name="TextBox 21"/>
          <p:cNvSpPr txBox="1"/>
          <p:nvPr/>
        </p:nvSpPr>
        <p:spPr>
          <a:xfrm>
            <a:off x="6057900" y="2413000"/>
            <a:ext cx="41148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500" b="1" dirty="0">
                <a:solidFill>
                  <a:srgbClr val="100900"/>
                </a:solidFill>
                <a:latin typeface="Poppins"/>
              </a:rPr>
              <a:t>Phase 2:</a:t>
            </a:r>
            <a:endParaRPr lang="en-US" sz="1100" dirty="0"/>
          </a:p>
        </p:txBody>
      </p:sp>
      <p:sp>
        <p:nvSpPr>
          <p:cNvPr id="22" name="TextBox 22"/>
          <p:cNvSpPr txBox="1"/>
          <p:nvPr/>
        </p:nvSpPr>
        <p:spPr>
          <a:xfrm>
            <a:off x="10998200" y="2413000"/>
            <a:ext cx="41148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500" b="1" dirty="0">
                <a:solidFill>
                  <a:srgbClr val="100900"/>
                </a:solidFill>
                <a:latin typeface="Poppins"/>
              </a:rPr>
              <a:t>Phase 3:</a:t>
            </a:r>
            <a:endParaRPr lang="en-US" sz="1100" dirty="0"/>
          </a:p>
        </p:txBody>
      </p:sp>
      <p:sp>
        <p:nvSpPr>
          <p:cNvPr id="23" name="TextBox 23"/>
          <p:cNvSpPr txBox="1"/>
          <p:nvPr/>
        </p:nvSpPr>
        <p:spPr>
          <a:xfrm>
            <a:off x="1130300" y="2946400"/>
            <a:ext cx="41148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Poppins"/>
              </a:rPr>
              <a:t>Data Intake &amp; Alignment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1517650" y="5086350"/>
            <a:ext cx="3860800" cy="212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700" dirty="0">
                <a:solidFill>
                  <a:srgbClr val="000000"/>
                </a:solidFill>
                <a:latin typeface="Poppins"/>
              </a:rPr>
              <a:t>Connect to internal sales/comps/category datasets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700" dirty="0">
              <a:solidFill>
                <a:srgbClr val="000000"/>
              </a:solidFill>
              <a:latin typeface="Poppin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Align fiscal weeks with external context (storms, housing)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Build prototype notebook with data validation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Deliverable: 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Clean aligned dataset + notebook template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100" dirty="0"/>
          </a:p>
        </p:txBody>
      </p:sp>
      <p:sp>
        <p:nvSpPr>
          <p:cNvPr id="27" name="TextBox 27"/>
          <p:cNvSpPr txBox="1"/>
          <p:nvPr/>
        </p:nvSpPr>
        <p:spPr>
          <a:xfrm>
            <a:off x="1384300" y="6578600"/>
            <a:ext cx="3860800" cy="647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endParaRPr lang="en-US" sz="1100" dirty="0"/>
          </a:p>
        </p:txBody>
      </p:sp>
      <p:sp>
        <p:nvSpPr>
          <p:cNvPr id="28" name="TextBox 28"/>
          <p:cNvSpPr txBox="1"/>
          <p:nvPr/>
        </p:nvSpPr>
        <p:spPr>
          <a:xfrm>
            <a:off x="6057900" y="2946400"/>
            <a:ext cx="41148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Poppins"/>
              </a:rPr>
              <a:t>Resilience Scorecard MVP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6445250" y="6422765"/>
            <a:ext cx="3860800" cy="16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700" dirty="0">
                <a:solidFill>
                  <a:srgbClr val="000000"/>
                </a:solidFill>
                <a:latin typeface="Poppins"/>
              </a:rPr>
              <a:t>Compute volatility metrics by category/region</a:t>
            </a:r>
          </a:p>
          <a:p>
            <a:pPr algn="l">
              <a:lnSpc>
                <a:spcPct val="150000"/>
              </a:lnSpc>
              <a:defRPr/>
            </a:pPr>
            <a:endParaRPr lang="en-US" sz="1700" dirty="0">
              <a:solidFill>
                <a:srgbClr val="000000"/>
              </a:solidFill>
              <a:latin typeface="Poppin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Measure recovery speed after macro shifts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700" dirty="0">
                <a:solidFill>
                  <a:srgbClr val="000000"/>
                </a:solidFill>
                <a:latin typeface="Poppins"/>
              </a:rPr>
              <a:t>Build composite Resilience Index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Create Excel/Tableau dashboard with filters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700" b="1" dirty="0">
                <a:solidFill>
                  <a:srgbClr val="000000"/>
                </a:solidFill>
                <a:latin typeface="Poppins"/>
              </a:rPr>
              <a:t>Deliverable: </a:t>
            </a:r>
            <a:r>
              <a:rPr lang="en-US" sz="1700" dirty="0">
                <a:solidFill>
                  <a:srgbClr val="000000"/>
                </a:solidFill>
                <a:latin typeface="Poppins"/>
              </a:rPr>
              <a:t>Working MVP dashboard + Python module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100" dirty="0"/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100" dirty="0"/>
          </a:p>
        </p:txBody>
      </p:sp>
      <p:sp>
        <p:nvSpPr>
          <p:cNvPr id="31" name="TextBox 31"/>
          <p:cNvSpPr txBox="1"/>
          <p:nvPr/>
        </p:nvSpPr>
        <p:spPr>
          <a:xfrm>
            <a:off x="6311900" y="5343265"/>
            <a:ext cx="3860800" cy="647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endParaRPr lang="en-US" sz="1100" dirty="0"/>
          </a:p>
        </p:txBody>
      </p:sp>
      <p:sp>
        <p:nvSpPr>
          <p:cNvPr id="34" name="TextBox 34"/>
          <p:cNvSpPr txBox="1"/>
          <p:nvPr/>
        </p:nvSpPr>
        <p:spPr>
          <a:xfrm>
            <a:off x="11064875" y="2753921"/>
            <a:ext cx="4235450" cy="647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700" b="1" dirty="0">
                <a:solidFill>
                  <a:srgbClr val="000000"/>
                </a:solidFill>
                <a:latin typeface="Poppins"/>
              </a:rPr>
              <a:t>Action Snippets &amp; Recommendations</a:t>
            </a:r>
            <a:endParaRPr lang="en-US" sz="1100" dirty="0"/>
          </a:p>
        </p:txBody>
      </p:sp>
      <p:sp>
        <p:nvSpPr>
          <p:cNvPr id="35" name="TextBox 35"/>
          <p:cNvSpPr txBox="1"/>
          <p:nvPr/>
        </p:nvSpPr>
        <p:spPr>
          <a:xfrm>
            <a:off x="11345863" y="6045200"/>
            <a:ext cx="3860800" cy="77178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700" dirty="0">
                <a:solidFill>
                  <a:srgbClr val="000000"/>
                </a:solidFill>
                <a:latin typeface="Poppins"/>
              </a:rPr>
              <a:t>Identify "fragile but important" categories</a:t>
            </a:r>
          </a:p>
          <a:p>
            <a:pPr algn="l">
              <a:lnSpc>
                <a:spcPct val="150000"/>
              </a:lnSpc>
              <a:defRPr/>
            </a:pPr>
            <a:endParaRPr lang="en-US" sz="1700" dirty="0">
              <a:solidFill>
                <a:srgbClr val="000000"/>
              </a:solidFill>
              <a:latin typeface="Poppins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700" dirty="0">
                <a:solidFill>
                  <a:srgbClr val="000000"/>
                </a:solidFill>
                <a:latin typeface="Poppins"/>
              </a:rPr>
              <a:t>Propose low-risk experiments (promo timing, digital attach)</a:t>
            </a:r>
          </a:p>
          <a:p>
            <a:pPr>
              <a:lnSpc>
                <a:spcPct val="150000"/>
              </a:lnSpc>
              <a:defRPr/>
            </a:pPr>
            <a:endParaRPr lang="en-US" sz="1700" dirty="0">
              <a:solidFill>
                <a:srgbClr val="000000"/>
              </a:solidFill>
              <a:latin typeface="Poppin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Package findings into decision-ready deck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700" b="1" dirty="0">
                <a:solidFill>
                  <a:srgbClr val="000000"/>
                </a:solidFill>
                <a:latin typeface="Poppins"/>
              </a:rPr>
              <a:t>Deliverable: </a:t>
            </a:r>
            <a:r>
              <a:rPr lang="en-US" sz="1700" dirty="0">
                <a:solidFill>
                  <a:srgbClr val="000000"/>
                </a:solidFill>
                <a:latin typeface="Poppins"/>
              </a:rPr>
              <a:t>Experiment proposals + handoff docs</a:t>
            </a:r>
            <a:endParaRPr lang="en-US" sz="1100" dirty="0"/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1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700" dirty="0">
              <a:solidFill>
                <a:srgbClr val="000000"/>
              </a:solidFill>
              <a:latin typeface="Poppins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100" dirty="0"/>
          </a:p>
        </p:txBody>
      </p:sp>
      <p:sp>
        <p:nvSpPr>
          <p:cNvPr id="36" name="TextBox 36"/>
          <p:cNvSpPr txBox="1"/>
          <p:nvPr/>
        </p:nvSpPr>
        <p:spPr>
          <a:xfrm>
            <a:off x="11252200" y="4597400"/>
            <a:ext cx="3860800" cy="647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endParaRPr lang="en-US" sz="1100" dirty="0"/>
          </a:p>
        </p:txBody>
      </p:sp>
      <p:sp>
        <p:nvSpPr>
          <p:cNvPr id="39" name="TextBox 39"/>
          <p:cNvSpPr txBox="1"/>
          <p:nvPr/>
        </p:nvSpPr>
        <p:spPr>
          <a:xfrm>
            <a:off x="1130300" y="7645400"/>
            <a:ext cx="14236700" cy="647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endParaRPr lang="en-US" sz="1100" dirty="0"/>
          </a:p>
        </p:txBody>
      </p:sp>
      <p:pic>
        <p:nvPicPr>
          <p:cNvPr id="53" name="Picture 5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073400" y="1498600"/>
            <a:ext cx="215900" cy="2159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5"/>
          <a:srcRect t="6000" b="6000"/>
          <a:stretch>
            <a:fillRect/>
          </a:stretch>
        </p:blipFill>
        <p:spPr>
          <a:xfrm>
            <a:off x="8001000" y="1498600"/>
            <a:ext cx="241300" cy="2159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6"/>
          <a:srcRect l="9000" r="9000"/>
          <a:stretch>
            <a:fillRect/>
          </a:stretch>
        </p:blipFill>
        <p:spPr>
          <a:xfrm>
            <a:off x="12966700" y="1498600"/>
            <a:ext cx="177800" cy="215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C448A-3122-D878-6C36-BB8513DB3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90DC2D36-C234-B16F-4901-145689F72D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12">
            <a:extLst>
              <a:ext uri="{FF2B5EF4-FFF2-40B4-BE49-F238E27FC236}">
                <a16:creationId xmlns:a16="http://schemas.microsoft.com/office/drawing/2014/main" id="{DC4161CC-5F88-458B-FAC2-C43FA0F7A21C}"/>
              </a:ext>
            </a:extLst>
          </p:cNvPr>
          <p:cNvSpPr txBox="1"/>
          <p:nvPr/>
        </p:nvSpPr>
        <p:spPr>
          <a:xfrm>
            <a:off x="876300" y="588884"/>
            <a:ext cx="144907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Desired Outcome (how to measure success)</a:t>
            </a:r>
          </a:p>
        </p:txBody>
      </p:sp>
      <p:pic>
        <p:nvPicPr>
          <p:cNvPr id="2" name="Picture 9">
            <a:extLst>
              <a:ext uri="{FF2B5EF4-FFF2-40B4-BE49-F238E27FC236}">
                <a16:creationId xmlns:a16="http://schemas.microsoft.com/office/drawing/2014/main" id="{E2315C43-215D-1510-596B-33C23641A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500" y="4869609"/>
            <a:ext cx="4953000" cy="2476500"/>
          </a:xfrm>
          <a:prstGeom prst="rect">
            <a:avLst/>
          </a:prstGeom>
        </p:spPr>
      </p:pic>
      <p:pic>
        <p:nvPicPr>
          <p:cNvPr id="6" name="Picture 21">
            <a:extLst>
              <a:ext uri="{FF2B5EF4-FFF2-40B4-BE49-F238E27FC236}">
                <a16:creationId xmlns:a16="http://schemas.microsoft.com/office/drawing/2014/main" id="{12808E4C-F7F2-B542-5600-E0412FAC6C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1000" b="21000"/>
          <a:stretch>
            <a:fillRect/>
          </a:stretch>
        </p:blipFill>
        <p:spPr>
          <a:xfrm>
            <a:off x="6451600" y="6400800"/>
            <a:ext cx="279400" cy="165100"/>
          </a:xfrm>
          <a:prstGeom prst="rect">
            <a:avLst/>
          </a:prstGeom>
        </p:spPr>
      </p:pic>
      <p:pic>
        <p:nvPicPr>
          <p:cNvPr id="7" name="Picture 22">
            <a:extLst>
              <a:ext uri="{FF2B5EF4-FFF2-40B4-BE49-F238E27FC236}">
                <a16:creationId xmlns:a16="http://schemas.microsoft.com/office/drawing/2014/main" id="{5D5FDB03-8F82-BE4D-4517-7C215B61FF5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6000" b="16000"/>
          <a:stretch>
            <a:fillRect/>
          </a:stretch>
        </p:blipFill>
        <p:spPr>
          <a:xfrm>
            <a:off x="7964264" y="5562600"/>
            <a:ext cx="241300" cy="165100"/>
          </a:xfrm>
          <a:prstGeom prst="rect">
            <a:avLst/>
          </a:prstGeom>
        </p:spPr>
      </p:pic>
      <p:pic>
        <p:nvPicPr>
          <p:cNvPr id="8" name="Picture 23">
            <a:extLst>
              <a:ext uri="{FF2B5EF4-FFF2-40B4-BE49-F238E27FC236}">
                <a16:creationId xmlns:a16="http://schemas.microsoft.com/office/drawing/2014/main" id="{B8D8C0D4-AC4E-B376-A2B0-9C17E2FD8F8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6000" b="16000"/>
          <a:stretch>
            <a:fillRect/>
          </a:stretch>
        </p:blipFill>
        <p:spPr>
          <a:xfrm>
            <a:off x="9525002" y="6402614"/>
            <a:ext cx="279400" cy="1911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FAD8903-00EC-76BD-CAA1-F7F30D7A253E}"/>
              </a:ext>
            </a:extLst>
          </p:cNvPr>
          <p:cNvSpPr txBox="1"/>
          <p:nvPr/>
        </p:nvSpPr>
        <p:spPr>
          <a:xfrm>
            <a:off x="1941289" y="2682695"/>
            <a:ext cx="3556000" cy="3520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Poppins" pitchFamily="2" charset="77"/>
                <a:cs typeface="Poppins" pitchFamily="2" charset="77"/>
              </a:rPr>
              <a:t>• Clear Visibility</a:t>
            </a:r>
          </a:p>
          <a:p>
            <a:pPr>
              <a:lnSpc>
                <a:spcPct val="150000"/>
              </a:lnSpc>
            </a:pPr>
            <a:br>
              <a:rPr lang="en-US" dirty="0">
                <a:latin typeface="Poppins" pitchFamily="2" charset="77"/>
                <a:cs typeface="Poppins" pitchFamily="2" charset="77"/>
              </a:rPr>
            </a:br>
            <a:r>
              <a:rPr lang="en-US" dirty="0">
                <a:latin typeface="Poppins" pitchFamily="2" charset="77"/>
                <a:cs typeface="Poppins" pitchFamily="2" charset="77"/>
              </a:rPr>
              <a:t>A simple metrics shows which categories and regions are stable vs. shock-sensitive, which directly addressing HD’s multi-year comp volatility.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37E54F-0893-AFE0-9886-785760FD5E01}"/>
              </a:ext>
            </a:extLst>
          </p:cNvPr>
          <p:cNvSpPr txBox="1"/>
          <p:nvPr/>
        </p:nvSpPr>
        <p:spPr>
          <a:xfrm>
            <a:off x="6233888" y="1797891"/>
            <a:ext cx="4140200" cy="2689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Poppins" pitchFamily="2" charset="77"/>
                <a:cs typeface="Poppins" pitchFamily="2" charset="77"/>
              </a:rPr>
              <a:t>• Targeted Actions</a:t>
            </a:r>
            <a:br>
              <a:rPr lang="en-US" dirty="0">
                <a:latin typeface="Poppins" pitchFamily="2" charset="77"/>
                <a:cs typeface="Poppins" pitchFamily="2" charset="77"/>
              </a:rPr>
            </a:br>
            <a:endParaRPr lang="en-US" dirty="0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Poppins" pitchFamily="2" charset="77"/>
                <a:cs typeface="Poppins" pitchFamily="2" charset="77"/>
              </a:rPr>
              <a:t>Teams identify “fragile but important” categories and adjust promo/margin strategy to smooth quarterly comp swings.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F9BCEF-E37A-7D8E-D0B5-5F1C520F846B}"/>
              </a:ext>
            </a:extLst>
          </p:cNvPr>
          <p:cNvSpPr txBox="1"/>
          <p:nvPr/>
        </p:nvSpPr>
        <p:spPr>
          <a:xfrm>
            <a:off x="11330213" y="2544195"/>
            <a:ext cx="3389313" cy="3658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Poppins" pitchFamily="2" charset="77"/>
                <a:cs typeface="Poppins" pitchFamily="2" charset="77"/>
              </a:rPr>
              <a:t>• Repeatable Analytics Asset</a:t>
            </a:r>
          </a:p>
          <a:p>
            <a:pPr>
              <a:lnSpc>
                <a:spcPct val="150000"/>
              </a:lnSpc>
            </a:pPr>
            <a:br>
              <a:rPr lang="en-US" dirty="0">
                <a:latin typeface="Poppins" pitchFamily="2" charset="77"/>
                <a:cs typeface="Poppins" pitchFamily="2" charset="77"/>
              </a:rPr>
            </a:br>
            <a:r>
              <a:rPr lang="en-US" dirty="0">
                <a:latin typeface="Poppins" pitchFamily="2" charset="77"/>
                <a:cs typeface="Poppins" pitchFamily="2" charset="77"/>
              </a:rPr>
              <a:t>A Python + Excel/Tableau metrics that continuously monitors stability and flags shifts in sensitive categories.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5E0442-A321-47AE-65D9-D2EF3DA06D47}"/>
              </a:ext>
            </a:extLst>
          </p:cNvPr>
          <p:cNvSpPr txBox="1"/>
          <p:nvPr/>
        </p:nvSpPr>
        <p:spPr>
          <a:xfrm>
            <a:off x="1231901" y="7548561"/>
            <a:ext cx="13487625" cy="825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gain better control of comparable performance by understanding where volatility originates and where stability can be strengthened</a:t>
            </a:r>
          </a:p>
        </p:txBody>
      </p:sp>
    </p:spTree>
    <p:extLst>
      <p:ext uri="{BB962C8B-B14F-4D97-AF65-F5344CB8AC3E}">
        <p14:creationId xmlns:p14="http://schemas.microsoft.com/office/powerpoint/2010/main" val="675332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  <a:ln w="50800">
            <a:solidFill>
              <a:srgbClr val="FFC277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841500"/>
            <a:ext cx="14490700" cy="6794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89000" y="1854200"/>
            <a:ext cx="3149600" cy="381000"/>
          </a:xfrm>
          <a:prstGeom prst="rect">
            <a:avLst/>
          </a:prstGeom>
          <a:solidFill>
            <a:srgbClr val="E1A862"/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4038600" y="1854200"/>
            <a:ext cx="4699000" cy="381000"/>
          </a:xfrm>
          <a:prstGeom prst="rect">
            <a:avLst/>
          </a:prstGeom>
          <a:solidFill>
            <a:srgbClr val="E1A862"/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8737600" y="1854200"/>
            <a:ext cx="4978400" cy="381000"/>
          </a:xfrm>
          <a:prstGeom prst="rect">
            <a:avLst/>
          </a:prstGeom>
          <a:solidFill>
            <a:srgbClr val="E1A862"/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13716000" y="1854200"/>
            <a:ext cx="1638300" cy="381000"/>
          </a:xfrm>
          <a:prstGeom prst="rect">
            <a:avLst/>
          </a:prstGeom>
          <a:solidFill>
            <a:srgbClr val="E1A862"/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889000" y="2235200"/>
            <a:ext cx="31496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4038600" y="2235200"/>
            <a:ext cx="4699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8737600" y="2235200"/>
            <a:ext cx="4978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13716000" y="2235200"/>
            <a:ext cx="16383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889000" y="2882900"/>
            <a:ext cx="31496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4038600" y="2882900"/>
            <a:ext cx="4699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8737600" y="2882900"/>
            <a:ext cx="4978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13716000" y="2882900"/>
            <a:ext cx="16383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>
            <a:off x="889000" y="3543300"/>
            <a:ext cx="31496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4038600" y="3543300"/>
            <a:ext cx="4699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>
            <a:off x="8737600" y="3543300"/>
            <a:ext cx="4978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20"/>
          <p:cNvSpPr/>
          <p:nvPr/>
        </p:nvSpPr>
        <p:spPr>
          <a:xfrm>
            <a:off x="13716000" y="3543300"/>
            <a:ext cx="16383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AutoShape 21"/>
          <p:cNvSpPr/>
          <p:nvPr/>
        </p:nvSpPr>
        <p:spPr>
          <a:xfrm>
            <a:off x="889000" y="4191000"/>
            <a:ext cx="31496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AutoShape 22"/>
          <p:cNvSpPr/>
          <p:nvPr/>
        </p:nvSpPr>
        <p:spPr>
          <a:xfrm>
            <a:off x="4038600" y="4191000"/>
            <a:ext cx="4699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AutoShape 23"/>
          <p:cNvSpPr/>
          <p:nvPr/>
        </p:nvSpPr>
        <p:spPr>
          <a:xfrm>
            <a:off x="8737600" y="4191000"/>
            <a:ext cx="49784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24"/>
          <p:cNvSpPr/>
          <p:nvPr/>
        </p:nvSpPr>
        <p:spPr>
          <a:xfrm>
            <a:off x="13716000" y="4191000"/>
            <a:ext cx="16383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25"/>
          <p:cNvSpPr/>
          <p:nvPr/>
        </p:nvSpPr>
        <p:spPr>
          <a:xfrm>
            <a:off x="889000" y="5118100"/>
            <a:ext cx="31496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26"/>
          <p:cNvSpPr/>
          <p:nvPr/>
        </p:nvSpPr>
        <p:spPr>
          <a:xfrm>
            <a:off x="4038600" y="5118100"/>
            <a:ext cx="4699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AutoShape 27"/>
          <p:cNvSpPr/>
          <p:nvPr/>
        </p:nvSpPr>
        <p:spPr>
          <a:xfrm>
            <a:off x="8737600" y="5118100"/>
            <a:ext cx="4978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AutoShape 28"/>
          <p:cNvSpPr/>
          <p:nvPr/>
        </p:nvSpPr>
        <p:spPr>
          <a:xfrm>
            <a:off x="13716000" y="5118100"/>
            <a:ext cx="16383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AutoShape 29"/>
          <p:cNvSpPr/>
          <p:nvPr/>
        </p:nvSpPr>
        <p:spPr>
          <a:xfrm>
            <a:off x="889000" y="5765800"/>
            <a:ext cx="31496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AutoShape 30"/>
          <p:cNvSpPr/>
          <p:nvPr/>
        </p:nvSpPr>
        <p:spPr>
          <a:xfrm>
            <a:off x="4038600" y="5765800"/>
            <a:ext cx="4699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AutoShape 31"/>
          <p:cNvSpPr/>
          <p:nvPr/>
        </p:nvSpPr>
        <p:spPr>
          <a:xfrm>
            <a:off x="8737600" y="5765800"/>
            <a:ext cx="4978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AutoShape 32"/>
          <p:cNvSpPr/>
          <p:nvPr/>
        </p:nvSpPr>
        <p:spPr>
          <a:xfrm>
            <a:off x="13716000" y="5765800"/>
            <a:ext cx="16383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AutoShape 33"/>
          <p:cNvSpPr/>
          <p:nvPr/>
        </p:nvSpPr>
        <p:spPr>
          <a:xfrm>
            <a:off x="889000" y="6413500"/>
            <a:ext cx="31496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AutoShape 34"/>
          <p:cNvSpPr/>
          <p:nvPr/>
        </p:nvSpPr>
        <p:spPr>
          <a:xfrm>
            <a:off x="4038600" y="6413500"/>
            <a:ext cx="4699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AutoShape 35"/>
          <p:cNvSpPr/>
          <p:nvPr/>
        </p:nvSpPr>
        <p:spPr>
          <a:xfrm>
            <a:off x="8737600" y="6413500"/>
            <a:ext cx="4978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AutoShape 36"/>
          <p:cNvSpPr/>
          <p:nvPr/>
        </p:nvSpPr>
        <p:spPr>
          <a:xfrm>
            <a:off x="13716000" y="6413500"/>
            <a:ext cx="16383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AutoShape 37"/>
          <p:cNvSpPr/>
          <p:nvPr/>
        </p:nvSpPr>
        <p:spPr>
          <a:xfrm>
            <a:off x="889000" y="7073900"/>
            <a:ext cx="31496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AutoShape 38"/>
          <p:cNvSpPr/>
          <p:nvPr/>
        </p:nvSpPr>
        <p:spPr>
          <a:xfrm>
            <a:off x="4038600" y="7073900"/>
            <a:ext cx="4699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AutoShape 39"/>
          <p:cNvSpPr/>
          <p:nvPr/>
        </p:nvSpPr>
        <p:spPr>
          <a:xfrm>
            <a:off x="8737600" y="7073900"/>
            <a:ext cx="4978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AutoShape 40"/>
          <p:cNvSpPr/>
          <p:nvPr/>
        </p:nvSpPr>
        <p:spPr>
          <a:xfrm>
            <a:off x="13716000" y="7073900"/>
            <a:ext cx="16383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AutoShape 41"/>
          <p:cNvSpPr/>
          <p:nvPr/>
        </p:nvSpPr>
        <p:spPr>
          <a:xfrm>
            <a:off x="889000" y="7721600"/>
            <a:ext cx="31496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AutoShape 42"/>
          <p:cNvSpPr/>
          <p:nvPr/>
        </p:nvSpPr>
        <p:spPr>
          <a:xfrm>
            <a:off x="4038600" y="7721600"/>
            <a:ext cx="4699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AutoShape 43"/>
          <p:cNvSpPr/>
          <p:nvPr/>
        </p:nvSpPr>
        <p:spPr>
          <a:xfrm>
            <a:off x="8737600" y="7721600"/>
            <a:ext cx="49784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AutoShape 44"/>
          <p:cNvSpPr/>
          <p:nvPr/>
        </p:nvSpPr>
        <p:spPr>
          <a:xfrm>
            <a:off x="13716000" y="7721600"/>
            <a:ext cx="16383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9446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45" name="Picture 45"/>
          <p:cNvPicPr>
            <a:picLocks noChangeAspect="1"/>
          </p:cNvPicPr>
          <p:nvPr/>
        </p:nvPicPr>
        <p:blipFill>
          <a:blip r:embed="rId3"/>
          <a:srcRect t="15000" b="15000"/>
          <a:stretch>
            <a:fillRect/>
          </a:stretch>
        </p:blipFill>
        <p:spPr>
          <a:xfrm>
            <a:off x="15570200" y="139700"/>
            <a:ext cx="469900" cy="330200"/>
          </a:xfrm>
          <a:prstGeom prst="rect">
            <a:avLst/>
          </a:prstGeom>
        </p:spPr>
      </p:pic>
      <p:sp>
        <p:nvSpPr>
          <p:cNvPr id="46" name="TextBox 46"/>
          <p:cNvSpPr txBox="1"/>
          <p:nvPr/>
        </p:nvSpPr>
        <p:spPr>
          <a:xfrm>
            <a:off x="876300" y="482600"/>
            <a:ext cx="144907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Poppins"/>
              </a:rPr>
              <a:t>Data &amp; Sources:</a:t>
            </a:r>
            <a:endParaRPr lang="en-US" sz="11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876300" y="1117600"/>
            <a:ext cx="144907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All data in this proposal comes from official sources: Home Depot investor relations, SEC filings, third-party financial aggregators, and recent news coverage. Below is the complete data dictionary and source citations.</a:t>
            </a:r>
            <a:endParaRPr lang="en-US" sz="1100"/>
          </a:p>
        </p:txBody>
      </p:sp>
      <p:sp>
        <p:nvSpPr>
          <p:cNvPr id="48" name="TextBox 48"/>
          <p:cNvSpPr txBox="1"/>
          <p:nvPr/>
        </p:nvSpPr>
        <p:spPr>
          <a:xfrm>
            <a:off x="965200" y="1905000"/>
            <a:ext cx="29845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Metric / Data Point</a:t>
            </a:r>
            <a:endParaRPr lang="en-US" sz="1100"/>
          </a:p>
        </p:txBody>
      </p:sp>
      <p:sp>
        <p:nvSpPr>
          <p:cNvPr id="49" name="TextBox 49"/>
          <p:cNvSpPr txBox="1"/>
          <p:nvPr/>
        </p:nvSpPr>
        <p:spPr>
          <a:xfrm>
            <a:off x="4114800" y="1905000"/>
            <a:ext cx="45212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Source</a:t>
            </a:r>
            <a:endParaRPr lang="en-US" sz="1100"/>
          </a:p>
        </p:txBody>
      </p:sp>
      <p:sp>
        <p:nvSpPr>
          <p:cNvPr id="50" name="TextBox 50"/>
          <p:cNvSpPr txBox="1"/>
          <p:nvPr/>
        </p:nvSpPr>
        <p:spPr>
          <a:xfrm>
            <a:off x="8813800" y="1905000"/>
            <a:ext cx="48133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How Used in Proposal</a:t>
            </a:r>
            <a:endParaRPr lang="en-US" sz="1100"/>
          </a:p>
        </p:txBody>
      </p:sp>
      <p:sp>
        <p:nvSpPr>
          <p:cNvPr id="51" name="TextBox 51"/>
          <p:cNvSpPr txBox="1"/>
          <p:nvPr/>
        </p:nvSpPr>
        <p:spPr>
          <a:xfrm>
            <a:off x="13804900" y="1905000"/>
            <a:ext cx="14732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Year / Date</a:t>
            </a:r>
            <a:endParaRPr lang="en-US" sz="1100"/>
          </a:p>
        </p:txBody>
      </p:sp>
      <p:sp>
        <p:nvSpPr>
          <p:cNvPr id="52" name="TextBox 52"/>
          <p:cNvSpPr txBox="1"/>
          <p:nvPr/>
        </p:nvSpPr>
        <p:spPr>
          <a:xfrm>
            <a:off x="965200" y="2298700"/>
            <a:ext cx="29845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FY 2023 Sales &amp; Comparable Sales</a:t>
            </a:r>
            <a:endParaRPr lang="en-US" sz="1100"/>
          </a:p>
        </p:txBody>
      </p:sp>
      <p:sp>
        <p:nvSpPr>
          <p:cNvPr id="53" name="TextBox 53"/>
          <p:cNvSpPr txBox="1"/>
          <p:nvPr/>
        </p:nvSpPr>
        <p:spPr>
          <a:xfrm>
            <a:off x="4114800" y="2298700"/>
            <a:ext cx="45212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Home Depot 2023 Annual Report (IR)</a:t>
            </a:r>
            <a:endParaRPr lang="en-US" sz="1100"/>
          </a:p>
        </p:txBody>
      </p:sp>
      <p:sp>
        <p:nvSpPr>
          <p:cNvPr id="54" name="TextBox 54"/>
          <p:cNvSpPr txBox="1"/>
          <p:nvPr/>
        </p:nvSpPr>
        <p:spPr>
          <a:xfrm>
            <a:off x="8813800" y="2298700"/>
            <a:ext cx="48133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Support statement: sales fell 3.0%, comps fell 3.2%</a:t>
            </a:r>
            <a:endParaRPr lang="en-US" sz="1100"/>
          </a:p>
        </p:txBody>
      </p:sp>
      <p:sp>
        <p:nvSpPr>
          <p:cNvPr id="55" name="TextBox 55"/>
          <p:cNvSpPr txBox="1"/>
          <p:nvPr/>
        </p:nvSpPr>
        <p:spPr>
          <a:xfrm>
            <a:off x="13804900" y="2298700"/>
            <a:ext cx="14732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Fiscal 2023</a:t>
            </a:r>
            <a:endParaRPr lang="en-US" sz="1100"/>
          </a:p>
        </p:txBody>
      </p:sp>
      <p:sp>
        <p:nvSpPr>
          <p:cNvPr id="56" name="TextBox 56"/>
          <p:cNvSpPr txBox="1"/>
          <p:nvPr/>
        </p:nvSpPr>
        <p:spPr>
          <a:xfrm>
            <a:off x="965200" y="2946400"/>
            <a:ext cx="29845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FY 2024 Sales &amp; Comparable Sales</a:t>
            </a:r>
            <a:endParaRPr lang="en-US" sz="1100"/>
          </a:p>
        </p:txBody>
      </p:sp>
      <p:sp>
        <p:nvSpPr>
          <p:cNvPr id="57" name="TextBox 57"/>
          <p:cNvSpPr txBox="1"/>
          <p:nvPr/>
        </p:nvSpPr>
        <p:spPr>
          <a:xfrm>
            <a:off x="4114800" y="2946400"/>
            <a:ext cx="45212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Home Depot 2024 Annual Report (IR)</a:t>
            </a:r>
            <a:endParaRPr lang="en-US" sz="1100"/>
          </a:p>
        </p:txBody>
      </p:sp>
      <p:sp>
        <p:nvSpPr>
          <p:cNvPr id="58" name="TextBox 58"/>
          <p:cNvSpPr txBox="1"/>
          <p:nvPr/>
        </p:nvSpPr>
        <p:spPr>
          <a:xfrm>
            <a:off x="8813800" y="2946400"/>
            <a:ext cx="48133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Show sales growth to $159.5B but comps -1.8%</a:t>
            </a:r>
            <a:endParaRPr lang="en-US" sz="1100"/>
          </a:p>
        </p:txBody>
      </p:sp>
      <p:sp>
        <p:nvSpPr>
          <p:cNvPr id="59" name="TextBox 59"/>
          <p:cNvSpPr txBox="1"/>
          <p:nvPr/>
        </p:nvSpPr>
        <p:spPr>
          <a:xfrm>
            <a:off x="13804900" y="2946400"/>
            <a:ext cx="14732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Fiscal 2024</a:t>
            </a:r>
            <a:endParaRPr lang="en-US" sz="1100"/>
          </a:p>
        </p:txBody>
      </p:sp>
      <p:sp>
        <p:nvSpPr>
          <p:cNvPr id="60" name="TextBox 60"/>
          <p:cNvSpPr txBox="1"/>
          <p:nvPr/>
        </p:nvSpPr>
        <p:spPr>
          <a:xfrm>
            <a:off x="965200" y="3594100"/>
            <a:ext cx="29845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Q4 2024 Comparable Sales</a:t>
            </a:r>
            <a:endParaRPr lang="en-US" sz="1100"/>
          </a:p>
        </p:txBody>
      </p:sp>
      <p:sp>
        <p:nvSpPr>
          <p:cNvPr id="61" name="TextBox 61"/>
          <p:cNvSpPr txBox="1"/>
          <p:nvPr/>
        </p:nvSpPr>
        <p:spPr>
          <a:xfrm>
            <a:off x="4114800" y="3594100"/>
            <a:ext cx="45212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HD IR + Investopedia / AP coverage</a:t>
            </a:r>
            <a:endParaRPr lang="en-US" sz="1100"/>
          </a:p>
        </p:txBody>
      </p:sp>
      <p:sp>
        <p:nvSpPr>
          <p:cNvPr id="62" name="TextBox 62"/>
          <p:cNvSpPr txBox="1"/>
          <p:nvPr/>
        </p:nvSpPr>
        <p:spPr>
          <a:xfrm>
            <a:off x="8813800" y="3594100"/>
            <a:ext cx="48133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First positive comps: +0.8%</a:t>
            </a:r>
            <a:endParaRPr lang="en-US" sz="1100"/>
          </a:p>
        </p:txBody>
      </p:sp>
      <p:sp>
        <p:nvSpPr>
          <p:cNvPr id="63" name="TextBox 63"/>
          <p:cNvSpPr txBox="1"/>
          <p:nvPr/>
        </p:nvSpPr>
        <p:spPr>
          <a:xfrm>
            <a:off x="13804900" y="3594100"/>
            <a:ext cx="14732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Q4 FY2024</a:t>
            </a:r>
            <a:endParaRPr lang="en-US" sz="1100"/>
          </a:p>
        </p:txBody>
      </p:sp>
      <p:sp>
        <p:nvSpPr>
          <p:cNvPr id="64" name="TextBox 64"/>
          <p:cNvSpPr txBox="1"/>
          <p:nvPr/>
        </p:nvSpPr>
        <p:spPr>
          <a:xfrm>
            <a:off x="965200" y="4254500"/>
            <a:ext cx="29845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Q3 2025 Sales &amp; Comps</a:t>
            </a:r>
            <a:endParaRPr lang="en-US" sz="1100"/>
          </a:p>
        </p:txBody>
      </p:sp>
      <p:sp>
        <p:nvSpPr>
          <p:cNvPr id="65" name="TextBox 65"/>
          <p:cNvSpPr txBox="1"/>
          <p:nvPr/>
        </p:nvSpPr>
        <p:spPr>
          <a:xfrm>
            <a:off x="4114800" y="4254500"/>
            <a:ext cx="45212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Home Depot Q3 2025 Press Release (Nov 18, 2025)</a:t>
            </a:r>
            <a:endParaRPr lang="en-US" sz="1100"/>
          </a:p>
        </p:txBody>
      </p:sp>
      <p:sp>
        <p:nvSpPr>
          <p:cNvPr id="66" name="TextBox 66"/>
          <p:cNvSpPr txBox="1"/>
          <p:nvPr/>
        </p:nvSpPr>
        <p:spPr>
          <a:xfrm>
            <a:off x="8813800" y="4254500"/>
            <a:ext cx="4813300" cy="800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Highlight +2.8% sales vs +0.2% comps; note weather/housing headwinds</a:t>
            </a:r>
            <a:endParaRPr lang="en-US" sz="1100"/>
          </a:p>
        </p:txBody>
      </p:sp>
      <p:sp>
        <p:nvSpPr>
          <p:cNvPr id="67" name="TextBox 67"/>
          <p:cNvSpPr txBox="1"/>
          <p:nvPr/>
        </p:nvSpPr>
        <p:spPr>
          <a:xfrm>
            <a:off x="13804900" y="4254500"/>
            <a:ext cx="14732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Q3 FY2025</a:t>
            </a:r>
            <a:endParaRPr lang="en-US" sz="1100"/>
          </a:p>
        </p:txBody>
      </p:sp>
      <p:sp>
        <p:nvSpPr>
          <p:cNvPr id="68" name="TextBox 68"/>
          <p:cNvSpPr txBox="1"/>
          <p:nvPr/>
        </p:nvSpPr>
        <p:spPr>
          <a:xfrm>
            <a:off x="965200" y="5168900"/>
            <a:ext cx="29845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Annual Revenue 2021–2025</a:t>
            </a:r>
            <a:endParaRPr lang="en-US" sz="1100"/>
          </a:p>
        </p:txBody>
      </p:sp>
      <p:sp>
        <p:nvSpPr>
          <p:cNvPr id="69" name="TextBox 69"/>
          <p:cNvSpPr txBox="1"/>
          <p:nvPr/>
        </p:nvSpPr>
        <p:spPr>
          <a:xfrm>
            <a:off x="4114800" y="5168900"/>
            <a:ext cx="45212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MacroTrends, WallStreetZen, SEC filings</a:t>
            </a:r>
            <a:endParaRPr lang="en-US" sz="1100"/>
          </a:p>
        </p:txBody>
      </p:sp>
      <p:sp>
        <p:nvSpPr>
          <p:cNvPr id="70" name="TextBox 70"/>
          <p:cNvSpPr txBox="1"/>
          <p:nvPr/>
        </p:nvSpPr>
        <p:spPr>
          <a:xfrm>
            <a:off x="8813800" y="5168900"/>
            <a:ext cx="48133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Revenue chart showing $132.1B to $159.5B trend</a:t>
            </a:r>
            <a:endParaRPr lang="en-US" sz="1100"/>
          </a:p>
        </p:txBody>
      </p:sp>
      <p:sp>
        <p:nvSpPr>
          <p:cNvPr id="71" name="TextBox 71"/>
          <p:cNvSpPr txBox="1"/>
          <p:nvPr/>
        </p:nvSpPr>
        <p:spPr>
          <a:xfrm>
            <a:off x="13804900" y="5168900"/>
            <a:ext cx="14732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2021–2025</a:t>
            </a:r>
            <a:endParaRPr lang="en-US" sz="1100"/>
          </a:p>
        </p:txBody>
      </p:sp>
      <p:sp>
        <p:nvSpPr>
          <p:cNvPr id="72" name="TextBox 72"/>
          <p:cNvSpPr txBox="1"/>
          <p:nvPr/>
        </p:nvSpPr>
        <p:spPr>
          <a:xfrm>
            <a:off x="965200" y="5829300"/>
            <a:ext cx="29845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2022 Online Sales Share</a:t>
            </a:r>
            <a:endParaRPr lang="en-US" sz="1100"/>
          </a:p>
        </p:txBody>
      </p:sp>
      <p:sp>
        <p:nvSpPr>
          <p:cNvPr id="73" name="TextBox 73"/>
          <p:cNvSpPr txBox="1"/>
          <p:nvPr/>
        </p:nvSpPr>
        <p:spPr>
          <a:xfrm>
            <a:off x="4114800" y="5829300"/>
            <a:ext cx="45212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Home Depot 2022 Annual Report</a:t>
            </a:r>
            <a:endParaRPr lang="en-US" sz="1100"/>
          </a:p>
        </p:txBody>
      </p:sp>
      <p:sp>
        <p:nvSpPr>
          <p:cNvPr id="74" name="TextBox 74"/>
          <p:cNvSpPr txBox="1"/>
          <p:nvPr/>
        </p:nvSpPr>
        <p:spPr>
          <a:xfrm>
            <a:off x="8813800" y="5829300"/>
            <a:ext cx="48133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Estimate ~$22.3B online volume (14.2% × revenue)</a:t>
            </a:r>
            <a:endParaRPr lang="en-US" sz="1100"/>
          </a:p>
        </p:txBody>
      </p:sp>
      <p:sp>
        <p:nvSpPr>
          <p:cNvPr id="75" name="TextBox 75"/>
          <p:cNvSpPr txBox="1"/>
          <p:nvPr/>
        </p:nvSpPr>
        <p:spPr>
          <a:xfrm>
            <a:off x="13804900" y="5829300"/>
            <a:ext cx="14732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Fiscal 2022</a:t>
            </a:r>
            <a:endParaRPr lang="en-US" sz="1100"/>
          </a:p>
        </p:txBody>
      </p:sp>
      <p:sp>
        <p:nvSpPr>
          <p:cNvPr id="76" name="TextBox 76"/>
          <p:cNvSpPr txBox="1"/>
          <p:nvPr/>
        </p:nvSpPr>
        <p:spPr>
          <a:xfrm>
            <a:off x="965200" y="6477000"/>
            <a:ext cx="29845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2024 HomeDepot.com GMV</a:t>
            </a:r>
            <a:endParaRPr lang="en-US" sz="1100"/>
          </a:p>
        </p:txBody>
      </p:sp>
      <p:sp>
        <p:nvSpPr>
          <p:cNvPr id="77" name="TextBox 77"/>
          <p:cNvSpPr txBox="1"/>
          <p:nvPr/>
        </p:nvSpPr>
        <p:spPr>
          <a:xfrm>
            <a:off x="4114800" y="6477000"/>
            <a:ext cx="45212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ECDB Retailer Data</a:t>
            </a:r>
            <a:endParaRPr lang="en-US" sz="1100"/>
          </a:p>
        </p:txBody>
      </p:sp>
      <p:sp>
        <p:nvSpPr>
          <p:cNvPr id="78" name="TextBox 78"/>
          <p:cNvSpPr txBox="1"/>
          <p:nvPr/>
        </p:nvSpPr>
        <p:spPr>
          <a:xfrm>
            <a:off x="8813800" y="6477000"/>
            <a:ext cx="48133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Reference $21.1B annual online GMV with 0–5% growth</a:t>
            </a:r>
            <a:endParaRPr lang="en-US" sz="1100"/>
          </a:p>
        </p:txBody>
      </p:sp>
      <p:sp>
        <p:nvSpPr>
          <p:cNvPr id="79" name="TextBox 79"/>
          <p:cNvSpPr txBox="1"/>
          <p:nvPr/>
        </p:nvSpPr>
        <p:spPr>
          <a:xfrm>
            <a:off x="13804900" y="6477000"/>
            <a:ext cx="14732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2024</a:t>
            </a:r>
            <a:endParaRPr lang="en-US" sz="1100"/>
          </a:p>
        </p:txBody>
      </p:sp>
      <p:sp>
        <p:nvSpPr>
          <p:cNvPr id="80" name="TextBox 80"/>
          <p:cNvSpPr txBox="1"/>
          <p:nvPr/>
        </p:nvSpPr>
        <p:spPr>
          <a:xfrm>
            <a:off x="965200" y="7124700"/>
            <a:ext cx="29845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Q3 2025 Online Growth</a:t>
            </a:r>
            <a:endParaRPr lang="en-US" sz="1100"/>
          </a:p>
        </p:txBody>
      </p:sp>
      <p:sp>
        <p:nvSpPr>
          <p:cNvPr id="81" name="TextBox 81"/>
          <p:cNvSpPr txBox="1"/>
          <p:nvPr/>
        </p:nvSpPr>
        <p:spPr>
          <a:xfrm>
            <a:off x="4114800" y="7124700"/>
            <a:ext cx="45212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Digital Commerce 360 / HD Q3 2025 Earnings</a:t>
            </a:r>
            <a:endParaRPr lang="en-US" sz="1100"/>
          </a:p>
        </p:txBody>
      </p:sp>
      <p:sp>
        <p:nvSpPr>
          <p:cNvPr id="82" name="TextBox 82"/>
          <p:cNvSpPr txBox="1"/>
          <p:nvPr/>
        </p:nvSpPr>
        <p:spPr>
          <a:xfrm>
            <a:off x="8813800" y="7124700"/>
            <a:ext cx="48133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Online sales +11% YoY in Q3 2025</a:t>
            </a:r>
            <a:endParaRPr lang="en-US" sz="1100"/>
          </a:p>
        </p:txBody>
      </p:sp>
      <p:sp>
        <p:nvSpPr>
          <p:cNvPr id="83" name="TextBox 83"/>
          <p:cNvSpPr txBox="1"/>
          <p:nvPr/>
        </p:nvSpPr>
        <p:spPr>
          <a:xfrm>
            <a:off x="13804900" y="7124700"/>
            <a:ext cx="14732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Q3 FY2025</a:t>
            </a:r>
            <a:endParaRPr lang="en-US" sz="1100"/>
          </a:p>
        </p:txBody>
      </p:sp>
      <p:sp>
        <p:nvSpPr>
          <p:cNvPr id="84" name="TextBox 84"/>
          <p:cNvSpPr txBox="1"/>
          <p:nvPr/>
        </p:nvSpPr>
        <p:spPr>
          <a:xfrm>
            <a:off x="965200" y="7785100"/>
            <a:ext cx="29845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Weather &amp; Housing Impacts</a:t>
            </a:r>
            <a:endParaRPr lang="en-US" sz="1100"/>
          </a:p>
        </p:txBody>
      </p:sp>
      <p:sp>
        <p:nvSpPr>
          <p:cNvPr id="85" name="TextBox 85"/>
          <p:cNvSpPr txBox="1"/>
          <p:nvPr/>
        </p:nvSpPr>
        <p:spPr>
          <a:xfrm>
            <a:off x="4114800" y="7785100"/>
            <a:ext cx="4521200" cy="800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CEO Quote (Q3 2025 Earnings), Business Insider, AP News, Market Watch</a:t>
            </a:r>
            <a:endParaRPr lang="en-US" sz="1100"/>
          </a:p>
        </p:txBody>
      </p:sp>
      <p:sp>
        <p:nvSpPr>
          <p:cNvPr id="86" name="TextBox 86"/>
          <p:cNvSpPr txBox="1"/>
          <p:nvPr/>
        </p:nvSpPr>
        <p:spPr>
          <a:xfrm>
            <a:off x="8813800" y="7785100"/>
            <a:ext cx="48133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Document external headwinds: fewer storms, housing weakness</a:t>
            </a:r>
            <a:endParaRPr lang="en-US" sz="1100"/>
          </a:p>
        </p:txBody>
      </p:sp>
      <p:sp>
        <p:nvSpPr>
          <p:cNvPr id="87" name="TextBox 87"/>
          <p:cNvSpPr txBox="1"/>
          <p:nvPr/>
        </p:nvSpPr>
        <p:spPr>
          <a:xfrm>
            <a:off x="13804900" y="7785100"/>
            <a:ext cx="14732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Q3 2025 / Nov 2025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B36EB-FDE8-0412-9C8D-17F0BD058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846BBD6-B09D-DB19-F322-A9EE04E59E5C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  <a:ln w="50800">
            <a:solidFill>
              <a:srgbClr val="FFC277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E891150F-9795-8A6A-0B78-A7884029CC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700"/>
            <a:ext cx="16256000" cy="9144000"/>
          </a:xfrm>
          <a:prstGeom prst="rect">
            <a:avLst/>
          </a:prstGeom>
        </p:spPr>
      </p:pic>
      <p:sp>
        <p:nvSpPr>
          <p:cNvPr id="4" name="AutoShape 4">
            <a:extLst>
              <a:ext uri="{FF2B5EF4-FFF2-40B4-BE49-F238E27FC236}">
                <a16:creationId xmlns:a16="http://schemas.microsoft.com/office/drawing/2014/main" id="{D1496E0B-75B0-3AC0-E4F8-35F282178864}"/>
              </a:ext>
            </a:extLst>
          </p:cNvPr>
          <p:cNvSpPr/>
          <p:nvPr/>
        </p:nvSpPr>
        <p:spPr>
          <a:xfrm>
            <a:off x="876300" y="1041400"/>
            <a:ext cx="14490700" cy="7188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4EA7C40D-17A6-E6C8-A59B-2806505757BD}"/>
              </a:ext>
            </a:extLst>
          </p:cNvPr>
          <p:cNvSpPr/>
          <p:nvPr/>
        </p:nvSpPr>
        <p:spPr>
          <a:xfrm>
            <a:off x="876300" y="1041400"/>
            <a:ext cx="3584939" cy="5969000"/>
          </a:xfrm>
          <a:prstGeom prst="rect">
            <a:avLst/>
          </a:prstGeom>
          <a:solidFill>
            <a:srgbClr val="E1A862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5991C82-34EA-D52B-2F2E-E72845E29B3B}"/>
              </a:ext>
            </a:extLst>
          </p:cNvPr>
          <p:cNvSpPr/>
          <p:nvPr/>
        </p:nvSpPr>
        <p:spPr>
          <a:xfrm>
            <a:off x="1079631" y="1193800"/>
            <a:ext cx="520438" cy="495300"/>
          </a:xfrm>
          <a:prstGeom prst="roundRect">
            <a:avLst>
              <a:gd name="adj" fmla="val 48717"/>
            </a:avLst>
          </a:prstGeom>
          <a:solidFill>
            <a:srgbClr val="A37135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70338549-AFAD-B28D-59B8-717A5B4E81E4}"/>
              </a:ext>
            </a:extLst>
          </p:cNvPr>
          <p:cNvSpPr/>
          <p:nvPr/>
        </p:nvSpPr>
        <p:spPr>
          <a:xfrm>
            <a:off x="4692962" y="1054100"/>
            <a:ext cx="3584939" cy="5956300"/>
          </a:xfrm>
          <a:prstGeom prst="rect">
            <a:avLst/>
          </a:prstGeom>
          <a:solidFill>
            <a:srgbClr val="E1A862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B8FBA087-C0B5-98D4-AD8C-173D95765B12}"/>
              </a:ext>
            </a:extLst>
          </p:cNvPr>
          <p:cNvSpPr/>
          <p:nvPr/>
        </p:nvSpPr>
        <p:spPr>
          <a:xfrm>
            <a:off x="4901731" y="1206500"/>
            <a:ext cx="495300" cy="495300"/>
          </a:xfrm>
          <a:prstGeom prst="roundRect">
            <a:avLst>
              <a:gd name="adj" fmla="val 48717"/>
            </a:avLst>
          </a:prstGeom>
          <a:solidFill>
            <a:srgbClr val="A37135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A10485B5-C532-6F3C-A0C8-020B3B4AD9CA}"/>
              </a:ext>
            </a:extLst>
          </p:cNvPr>
          <p:cNvSpPr/>
          <p:nvPr/>
        </p:nvSpPr>
        <p:spPr>
          <a:xfrm>
            <a:off x="8482393" y="1054100"/>
            <a:ext cx="3633292" cy="5956300"/>
          </a:xfrm>
          <a:prstGeom prst="rect">
            <a:avLst/>
          </a:prstGeom>
          <a:solidFill>
            <a:srgbClr val="E1A862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51D71D7F-6B98-6711-F3E3-9DEB137505B7}"/>
              </a:ext>
            </a:extLst>
          </p:cNvPr>
          <p:cNvSpPr/>
          <p:nvPr/>
        </p:nvSpPr>
        <p:spPr>
          <a:xfrm>
            <a:off x="8777819" y="1206500"/>
            <a:ext cx="495300" cy="495300"/>
          </a:xfrm>
          <a:prstGeom prst="roundRect">
            <a:avLst>
              <a:gd name="adj" fmla="val 48717"/>
            </a:avLst>
          </a:prstGeom>
          <a:solidFill>
            <a:srgbClr val="A37135"/>
          </a:solidFill>
        </p:spPr>
        <p:txBody>
          <a:bodyPr/>
          <a:lstStyle/>
          <a:p>
            <a:endParaRPr lang="en-US"/>
          </a:p>
        </p:txBody>
      </p:sp>
      <p:pic>
        <p:nvPicPr>
          <p:cNvPr id="11" name="Picture 11">
            <a:extLst>
              <a:ext uri="{FF2B5EF4-FFF2-40B4-BE49-F238E27FC236}">
                <a16:creationId xmlns:a16="http://schemas.microsoft.com/office/drawing/2014/main" id="{3B1838F9-AE2D-B8E1-C52A-B3081C27C2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000" b="18000"/>
          <a:stretch>
            <a:fillRect/>
          </a:stretch>
        </p:blipFill>
        <p:spPr>
          <a:xfrm>
            <a:off x="15570200" y="127000"/>
            <a:ext cx="469900" cy="304800"/>
          </a:xfrm>
          <a:prstGeom prst="rect">
            <a:avLst/>
          </a:prstGeom>
        </p:spPr>
      </p:pic>
      <p:sp>
        <p:nvSpPr>
          <p:cNvPr id="12" name="TextBox 12">
            <a:extLst>
              <a:ext uri="{FF2B5EF4-FFF2-40B4-BE49-F238E27FC236}">
                <a16:creationId xmlns:a16="http://schemas.microsoft.com/office/drawing/2014/main" id="{6F60DADD-D668-393D-40D7-E1F220621970}"/>
              </a:ext>
            </a:extLst>
          </p:cNvPr>
          <p:cNvSpPr txBox="1"/>
          <p:nvPr/>
        </p:nvSpPr>
        <p:spPr>
          <a:xfrm>
            <a:off x="876300" y="457200"/>
            <a:ext cx="144907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600" b="1" dirty="0">
                <a:solidFill>
                  <a:schemeClr val="accent6">
                    <a:lumMod val="75000"/>
                  </a:schemeClr>
                </a:solidFill>
                <a:latin typeface="Poppins"/>
              </a:rPr>
              <a:t>Technical Background: Relevant Past Work</a:t>
            </a:r>
            <a:endParaRPr lang="en-US" sz="11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B1D1EA0-2EF1-B775-BCA8-100239F0714F}"/>
              </a:ext>
            </a:extLst>
          </p:cNvPr>
          <p:cNvSpPr txBox="1"/>
          <p:nvPr/>
        </p:nvSpPr>
        <p:spPr>
          <a:xfrm>
            <a:off x="1765457" y="1219199"/>
            <a:ext cx="2476343" cy="106759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2000" b="1" dirty="0">
                <a:latin typeface="Poppins" pitchFamily="2" charset="77"/>
                <a:cs typeface="Poppins" pitchFamily="2" charset="77"/>
              </a:rPr>
              <a:t>Time-Series Forecasting &amp; Volatility Modeling</a:t>
            </a:r>
            <a:endParaRPr lang="en-US" sz="1100" b="1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6C2D8AE-B5E0-1091-FD06-BFD129484ABC}"/>
              </a:ext>
            </a:extLst>
          </p:cNvPr>
          <p:cNvSpPr txBox="1"/>
          <p:nvPr/>
        </p:nvSpPr>
        <p:spPr>
          <a:xfrm>
            <a:off x="5684916" y="1206500"/>
            <a:ext cx="2581823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2000" b="1" dirty="0">
                <a:latin typeface="Poppins" pitchFamily="2" charset="77"/>
                <a:cs typeface="Poppins" pitchFamily="2" charset="77"/>
              </a:rPr>
              <a:t>Predictive Ranking &amp; Data Pipelines</a:t>
            </a:r>
            <a:endParaRPr lang="en-US" sz="1100" b="1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5BB2424-8986-0C1C-C001-76A4AFF990AD}"/>
              </a:ext>
            </a:extLst>
          </p:cNvPr>
          <p:cNvSpPr txBox="1"/>
          <p:nvPr/>
        </p:nvSpPr>
        <p:spPr>
          <a:xfrm>
            <a:off x="9442639" y="1118849"/>
            <a:ext cx="2394023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2000" b="1" dirty="0">
                <a:latin typeface="Poppins" pitchFamily="2" charset="77"/>
                <a:cs typeface="Poppins" pitchFamily="2" charset="77"/>
              </a:rPr>
              <a:t>Classification + Routing Systems</a:t>
            </a:r>
            <a:endParaRPr lang="en-US" sz="1100" b="1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D1029C7-3C81-2B6D-ECFD-848D945A74F2}"/>
              </a:ext>
            </a:extLst>
          </p:cNvPr>
          <p:cNvSpPr txBox="1"/>
          <p:nvPr/>
        </p:nvSpPr>
        <p:spPr>
          <a:xfrm>
            <a:off x="5092897" y="3150398"/>
            <a:ext cx="2951346" cy="396160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b="1" dirty="0">
                <a:latin typeface="Poppins" pitchFamily="2" charset="77"/>
                <a:cs typeface="Poppins" pitchFamily="2" charset="77"/>
              </a:rPr>
              <a:t>NSB Data Science Intern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900" dirty="0">
              <a:latin typeface="Poppins" pitchFamily="2" charset="77"/>
              <a:cs typeface="Poppins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itchFamily="2" charset="77"/>
                <a:cs typeface="Poppins" pitchFamily="2" charset="77"/>
              </a:rPr>
              <a:t>Cleaned large, messy datasets using SQL, Pandas, </a:t>
            </a:r>
            <a:r>
              <a:rPr lang="en-US" sz="1400" dirty="0" err="1">
                <a:latin typeface="Poppins" pitchFamily="2" charset="77"/>
                <a:cs typeface="Poppins" pitchFamily="2" charset="77"/>
              </a:rPr>
              <a:t>PySpark</a:t>
            </a:r>
            <a:endParaRPr lang="en-US" sz="1400" dirty="0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50000"/>
              </a:lnSpc>
            </a:pPr>
            <a:endParaRPr lang="en-US" sz="1400" dirty="0">
              <a:latin typeface="Poppins" pitchFamily="2" charset="77"/>
              <a:cs typeface="Poppins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itchFamily="2" charset="77"/>
                <a:cs typeface="Poppins" pitchFamily="2" charset="77"/>
              </a:rPr>
              <a:t>Built Random Forest / </a:t>
            </a:r>
            <a:r>
              <a:rPr lang="en-US" sz="1400" dirty="0" err="1">
                <a:latin typeface="Poppins" pitchFamily="2" charset="77"/>
                <a:cs typeface="Poppins" pitchFamily="2" charset="77"/>
              </a:rPr>
              <a:t>XGBoost</a:t>
            </a:r>
            <a:r>
              <a:rPr lang="en-US" sz="1400" dirty="0">
                <a:latin typeface="Poppins" pitchFamily="2" charset="77"/>
                <a:cs typeface="Poppins" pitchFamily="2" charset="77"/>
              </a:rPr>
              <a:t> ranking model to prioritize high-value items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Poppins" pitchFamily="2" charset="77"/>
              <a:cs typeface="Poppins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itchFamily="2" charset="77"/>
                <a:cs typeface="Poppins" pitchFamily="2" charset="77"/>
              </a:rPr>
              <a:t>Delivered reproducible pipelines using Docker, GitHub Actions, </a:t>
            </a:r>
            <a:r>
              <a:rPr lang="en-US" sz="1400" dirty="0" err="1">
                <a:latin typeface="Poppins" pitchFamily="2" charset="77"/>
                <a:cs typeface="Poppins" pitchFamily="2" charset="77"/>
              </a:rPr>
              <a:t>DevContainers</a:t>
            </a:r>
            <a:endParaRPr lang="en-US" sz="1400" dirty="0">
              <a:latin typeface="Poppins" pitchFamily="2" charset="77"/>
              <a:cs typeface="Poppins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latin typeface="Poppins" pitchFamily="2" charset="77"/>
              <a:cs typeface="Poppins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https://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github.com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/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BrynnZhang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/NSB-Amazon-and-bot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795FBE3A-1FB9-AD98-2CCD-9ED87B49C4D9}"/>
              </a:ext>
            </a:extLst>
          </p:cNvPr>
          <p:cNvSpPr txBox="1"/>
          <p:nvPr/>
        </p:nvSpPr>
        <p:spPr>
          <a:xfrm>
            <a:off x="8920543" y="3156028"/>
            <a:ext cx="2806438" cy="259000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b="1" dirty="0">
                <a:latin typeface="Poppins" pitchFamily="2" charset="77"/>
                <a:cs typeface="Poppins" pitchFamily="2" charset="77"/>
              </a:rPr>
              <a:t>Mental Health LLM Safety Pipeline</a:t>
            </a:r>
          </a:p>
          <a:p>
            <a:pPr>
              <a:lnSpc>
                <a:spcPct val="150000"/>
              </a:lnSpc>
            </a:pPr>
            <a:endParaRPr lang="en-US" sz="600" dirty="0">
              <a:latin typeface="Poppins" pitchFamily="2" charset="77"/>
              <a:cs typeface="Poppins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itchFamily="2" charset="77"/>
                <a:cs typeface="Poppins" pitchFamily="2" charset="77"/>
              </a:rPr>
              <a:t>Developed multi-class </a:t>
            </a:r>
            <a:r>
              <a:rPr lang="en-US" sz="1400" dirty="0" err="1">
                <a:latin typeface="Poppins" pitchFamily="2" charset="77"/>
                <a:cs typeface="Poppins" pitchFamily="2" charset="77"/>
              </a:rPr>
              <a:t>DistilBERT</a:t>
            </a:r>
            <a:r>
              <a:rPr lang="en-US" sz="1400" dirty="0">
                <a:latin typeface="Poppins" pitchFamily="2" charset="77"/>
                <a:cs typeface="Poppins" pitchFamily="2" charset="77"/>
              </a:rPr>
              <a:t> classifier for risk detection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latin typeface="Poppins" pitchFamily="2" charset="77"/>
              <a:cs typeface="Poppins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itchFamily="2" charset="77"/>
                <a:cs typeface="Poppins" pitchFamily="2" charset="77"/>
              </a:rPr>
              <a:t>Implemented routing logic to trigger different actions based on risk tier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latin typeface="Poppins" pitchFamily="2" charset="77"/>
              <a:cs typeface="Poppins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itchFamily="2" charset="77"/>
                <a:cs typeface="Poppins" pitchFamily="2" charset="77"/>
              </a:rPr>
              <a:t>Built scalable APIs with transformers, </a:t>
            </a:r>
            <a:r>
              <a:rPr lang="en-US" sz="1400" dirty="0" err="1">
                <a:latin typeface="Poppins" pitchFamily="2" charset="77"/>
                <a:cs typeface="Poppins" pitchFamily="2" charset="77"/>
              </a:rPr>
              <a:t>LoRA</a:t>
            </a:r>
            <a:r>
              <a:rPr lang="en-US" sz="1400" dirty="0">
                <a:latin typeface="Poppins" pitchFamily="2" charset="77"/>
                <a:cs typeface="Poppins" pitchFamily="2" charset="77"/>
              </a:rPr>
              <a:t> tuning, Flask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565DE38E-4A89-C05D-98C7-1AB11FA8719D}"/>
              </a:ext>
            </a:extLst>
          </p:cNvPr>
          <p:cNvSpPr txBox="1"/>
          <p:nvPr/>
        </p:nvSpPr>
        <p:spPr>
          <a:xfrm>
            <a:off x="1003300" y="4330700"/>
            <a:ext cx="241300" cy="16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endParaRPr lang="en-US" sz="1100" dirty="0"/>
          </a:p>
        </p:txBody>
      </p:sp>
      <p:pic>
        <p:nvPicPr>
          <p:cNvPr id="41" name="Picture 41">
            <a:extLst>
              <a:ext uri="{FF2B5EF4-FFF2-40B4-BE49-F238E27FC236}">
                <a16:creationId xmlns:a16="http://schemas.microsoft.com/office/drawing/2014/main" id="{15B50DF5-5E33-599D-E471-EC4C02C2167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000" b="16000"/>
          <a:stretch>
            <a:fillRect/>
          </a:stretch>
        </p:blipFill>
        <p:spPr>
          <a:xfrm>
            <a:off x="1217637" y="1369462"/>
            <a:ext cx="244425" cy="167238"/>
          </a:xfrm>
          <a:prstGeom prst="rect">
            <a:avLst/>
          </a:prstGeom>
        </p:spPr>
      </p:pic>
      <p:pic>
        <p:nvPicPr>
          <p:cNvPr id="42" name="Picture 42">
            <a:extLst>
              <a:ext uri="{FF2B5EF4-FFF2-40B4-BE49-F238E27FC236}">
                <a16:creationId xmlns:a16="http://schemas.microsoft.com/office/drawing/2014/main" id="{11196BDB-F430-E39B-C405-6BDD701C86D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6000" b="16000"/>
          <a:stretch>
            <a:fillRect/>
          </a:stretch>
        </p:blipFill>
        <p:spPr>
          <a:xfrm>
            <a:off x="5028731" y="1371600"/>
            <a:ext cx="241300" cy="165100"/>
          </a:xfrm>
          <a:prstGeom prst="rect">
            <a:avLst/>
          </a:prstGeom>
        </p:spPr>
      </p:pic>
      <p:pic>
        <p:nvPicPr>
          <p:cNvPr id="43" name="Picture 43">
            <a:extLst>
              <a:ext uri="{FF2B5EF4-FFF2-40B4-BE49-F238E27FC236}">
                <a16:creationId xmlns:a16="http://schemas.microsoft.com/office/drawing/2014/main" id="{CC3A3D4E-9B8F-FC43-DB3B-8B38E86FF9A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3000" b="23000"/>
          <a:stretch>
            <a:fillRect/>
          </a:stretch>
        </p:blipFill>
        <p:spPr>
          <a:xfrm>
            <a:off x="8873569" y="1355645"/>
            <a:ext cx="334255" cy="18105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C2532975-C6B9-B74E-CAB1-49F836247C81}"/>
              </a:ext>
            </a:extLst>
          </p:cNvPr>
          <p:cNvSpPr txBox="1"/>
          <p:nvPr/>
        </p:nvSpPr>
        <p:spPr>
          <a:xfrm>
            <a:off x="1118224" y="2450801"/>
            <a:ext cx="3200713" cy="5840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Poppins" pitchFamily="2" charset="77"/>
                <a:cs typeface="Poppins" pitchFamily="2" charset="77"/>
              </a:rPr>
              <a:t>Stealth Quant Intern</a:t>
            </a:r>
          </a:p>
          <a:p>
            <a:pPr>
              <a:lnSpc>
                <a:spcPct val="150000"/>
              </a:lnSpc>
            </a:pPr>
            <a:endParaRPr lang="en-US" sz="900" dirty="0">
              <a:latin typeface="Poppins" pitchFamily="2" charset="77"/>
              <a:cs typeface="Poppins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itchFamily="2" charset="77"/>
                <a:cs typeface="Poppins" pitchFamily="2" charset="77"/>
              </a:rPr>
              <a:t>Built ARIMA, Exponential Smoothing, and </a:t>
            </a:r>
            <a:r>
              <a:rPr lang="en-US" sz="1400" dirty="0" err="1">
                <a:latin typeface="Poppins" pitchFamily="2" charset="77"/>
                <a:cs typeface="Poppins" pitchFamily="2" charset="77"/>
              </a:rPr>
              <a:t>PyTorch</a:t>
            </a:r>
            <a:r>
              <a:rPr lang="en-US" sz="1400" dirty="0">
                <a:latin typeface="Poppins" pitchFamily="2" charset="77"/>
                <a:cs typeface="Poppins" pitchFamily="2" charset="77"/>
              </a:rPr>
              <a:t> forecasting models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Poppins" pitchFamily="2" charset="77"/>
              <a:cs typeface="Poppins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itchFamily="2" charset="77"/>
                <a:cs typeface="Poppins" pitchFamily="2" charset="77"/>
              </a:rPr>
              <a:t>Performed rolling-window volatility analysis and seasonality detection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Poppins" pitchFamily="2" charset="77"/>
              <a:cs typeface="Poppins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itchFamily="2" charset="77"/>
                <a:cs typeface="Poppins" pitchFamily="2" charset="77"/>
              </a:rPr>
              <a:t>Designed </a:t>
            </a:r>
            <a:r>
              <a:rPr lang="en-US" sz="1400" dirty="0" err="1">
                <a:latin typeface="Poppins" pitchFamily="2" charset="77"/>
                <a:cs typeface="Poppins" pitchFamily="2" charset="77"/>
              </a:rPr>
              <a:t>MLflow</a:t>
            </a:r>
            <a:r>
              <a:rPr lang="en-US" sz="1400" dirty="0">
                <a:latin typeface="Poppins" pitchFamily="2" charset="77"/>
                <a:cs typeface="Poppins" pitchFamily="2" charset="77"/>
              </a:rPr>
              <a:t> A/B testing to compare model stability under different conditions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latin typeface="Poppins" pitchFamily="2" charset="77"/>
              <a:cs typeface="Poppins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https://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github.com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/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BrynnZhang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/Stealth</a:t>
            </a:r>
          </a:p>
          <a:p>
            <a:endParaRPr lang="en-US" dirty="0"/>
          </a:p>
        </p:txBody>
      </p:sp>
      <p:sp>
        <p:nvSpPr>
          <p:cNvPr id="45" name="AutoShape 9">
            <a:extLst>
              <a:ext uri="{FF2B5EF4-FFF2-40B4-BE49-F238E27FC236}">
                <a16:creationId xmlns:a16="http://schemas.microsoft.com/office/drawing/2014/main" id="{63AED014-6940-8041-42F1-A894C4054596}"/>
              </a:ext>
            </a:extLst>
          </p:cNvPr>
          <p:cNvSpPr/>
          <p:nvPr/>
        </p:nvSpPr>
        <p:spPr>
          <a:xfrm>
            <a:off x="12370566" y="1041401"/>
            <a:ext cx="3409496" cy="5956300"/>
          </a:xfrm>
          <a:prstGeom prst="rect">
            <a:avLst/>
          </a:prstGeom>
          <a:solidFill>
            <a:srgbClr val="E1A862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7" name="AutoShape 6">
            <a:extLst>
              <a:ext uri="{FF2B5EF4-FFF2-40B4-BE49-F238E27FC236}">
                <a16:creationId xmlns:a16="http://schemas.microsoft.com/office/drawing/2014/main" id="{85D7D94D-D2BA-80C1-E2FD-CBEC7C1DBD11}"/>
              </a:ext>
            </a:extLst>
          </p:cNvPr>
          <p:cNvSpPr/>
          <p:nvPr/>
        </p:nvSpPr>
        <p:spPr>
          <a:xfrm>
            <a:off x="12471547" y="1212851"/>
            <a:ext cx="520438" cy="495300"/>
          </a:xfrm>
          <a:prstGeom prst="roundRect">
            <a:avLst>
              <a:gd name="adj" fmla="val 48717"/>
            </a:avLst>
          </a:prstGeom>
          <a:solidFill>
            <a:srgbClr val="A37135"/>
          </a:solidFill>
        </p:spPr>
        <p:txBody>
          <a:bodyPr/>
          <a:lstStyle/>
          <a:p>
            <a:endParaRPr lang="en-US"/>
          </a:p>
        </p:txBody>
      </p:sp>
      <p:pic>
        <p:nvPicPr>
          <p:cNvPr id="46" name="Picture 41">
            <a:extLst>
              <a:ext uri="{FF2B5EF4-FFF2-40B4-BE49-F238E27FC236}">
                <a16:creationId xmlns:a16="http://schemas.microsoft.com/office/drawing/2014/main" id="{08606AF7-A05F-3A32-D55A-4D4B16BBC6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000" b="16000"/>
          <a:stretch>
            <a:fillRect/>
          </a:stretch>
        </p:blipFill>
        <p:spPr>
          <a:xfrm>
            <a:off x="12617560" y="1385624"/>
            <a:ext cx="244425" cy="167238"/>
          </a:xfrm>
          <a:prstGeom prst="rect">
            <a:avLst/>
          </a:prstGeom>
        </p:spPr>
      </p:pic>
      <p:sp>
        <p:nvSpPr>
          <p:cNvPr id="48" name="TextBox 15">
            <a:extLst>
              <a:ext uri="{FF2B5EF4-FFF2-40B4-BE49-F238E27FC236}">
                <a16:creationId xmlns:a16="http://schemas.microsoft.com/office/drawing/2014/main" id="{08A9708D-0E34-58F4-444D-FDA74C944082}"/>
              </a:ext>
            </a:extLst>
          </p:cNvPr>
          <p:cNvSpPr txBox="1"/>
          <p:nvPr/>
        </p:nvSpPr>
        <p:spPr>
          <a:xfrm>
            <a:off x="13204700" y="1181518"/>
            <a:ext cx="2394023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2400" b="1" dirty="0"/>
              <a:t>Operational Decision Engines</a:t>
            </a:r>
            <a:endParaRPr lang="en-US" sz="1200" b="1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9" name="TextBox 24">
            <a:extLst>
              <a:ext uri="{FF2B5EF4-FFF2-40B4-BE49-F238E27FC236}">
                <a16:creationId xmlns:a16="http://schemas.microsoft.com/office/drawing/2014/main" id="{4BF52165-B019-DF59-3BA6-8E869207BEEA}"/>
              </a:ext>
            </a:extLst>
          </p:cNvPr>
          <p:cNvSpPr txBox="1"/>
          <p:nvPr/>
        </p:nvSpPr>
        <p:spPr>
          <a:xfrm>
            <a:off x="12731766" y="4007024"/>
            <a:ext cx="2806438" cy="259000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b="1" dirty="0">
                <a:latin typeface="Poppins" pitchFamily="2" charset="77"/>
                <a:cs typeface="Poppins" pitchFamily="2" charset="77"/>
              </a:rPr>
              <a:t>NYU Law — Algorithmic Scheduling Project</a:t>
            </a:r>
          </a:p>
          <a:p>
            <a:pPr>
              <a:lnSpc>
                <a:spcPct val="150000"/>
              </a:lnSpc>
            </a:pPr>
            <a:endParaRPr lang="en-US" sz="1400" b="1" dirty="0">
              <a:latin typeface="Poppins" pitchFamily="2" charset="77"/>
              <a:cs typeface="Poppins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itchFamily="2" charset="77"/>
                <a:cs typeface="Poppins" pitchFamily="2" charset="77"/>
              </a:rPr>
              <a:t>Created dynamic programming + Gale–Shapley matching system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Poppins" pitchFamily="2" charset="77"/>
              <a:cs typeface="Poppins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itchFamily="2" charset="77"/>
                <a:cs typeface="Poppins" pitchFamily="2" charset="77"/>
              </a:rPr>
              <a:t>Reduced manual workload 60%, improved efficiency 22%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latin typeface="Poppins" pitchFamily="2" charset="77"/>
              <a:cs typeface="Poppins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latin typeface="Poppins" pitchFamily="2" charset="77"/>
              <a:cs typeface="Poppins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latin typeface="Poppins" pitchFamily="2" charset="77"/>
              <a:cs typeface="Poppins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latin typeface="Poppins" pitchFamily="2" charset="77"/>
              <a:cs typeface="Poppins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https://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github.com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/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BrynnZhang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/scheduling-system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85205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EDC88-48E5-DE96-C13B-AD043B170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9F9F53C7-BBA8-38E2-B502-3C2EC6BAC1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338558-95A0-A012-1746-C3A9AB9E22E8}"/>
              </a:ext>
            </a:extLst>
          </p:cNvPr>
          <p:cNvSpPr txBox="1"/>
          <p:nvPr/>
        </p:nvSpPr>
        <p:spPr>
          <a:xfrm>
            <a:off x="1041400" y="1829708"/>
            <a:ext cx="143256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Poppins" pitchFamily="2" charset="77"/>
                <a:cs typeface="Poppins" pitchFamily="2" charset="77"/>
              </a:rPr>
              <a:t>🔶</a:t>
            </a:r>
            <a:r>
              <a:rPr lang="en-US" sz="3600" dirty="0">
                <a:latin typeface="Poppins" pitchFamily="2" charset="77"/>
                <a:cs typeface="Poppins" pitchFamily="2" charset="77"/>
              </a:rPr>
              <a:t>Python, SQL, Pandas, Polars, </a:t>
            </a:r>
            <a:r>
              <a:rPr lang="en-US" sz="3600" dirty="0" err="1">
                <a:latin typeface="Poppins" pitchFamily="2" charset="77"/>
                <a:cs typeface="Poppins" pitchFamily="2" charset="77"/>
              </a:rPr>
              <a:t>PySpark</a:t>
            </a:r>
            <a:endParaRPr lang="en-US" sz="3600" dirty="0">
              <a:latin typeface="Poppins" pitchFamily="2" charset="77"/>
              <a:cs typeface="Poppins" pitchFamily="2" charset="77"/>
            </a:endParaRPr>
          </a:p>
          <a:p>
            <a:endParaRPr lang="en-US" sz="3600" dirty="0">
              <a:latin typeface="Poppins" pitchFamily="2" charset="77"/>
              <a:cs typeface="Poppins" pitchFamily="2" charset="77"/>
            </a:endParaRPr>
          </a:p>
          <a:p>
            <a:r>
              <a:rPr lang="en-US" sz="3600" b="1" dirty="0">
                <a:latin typeface="Poppins" pitchFamily="2" charset="77"/>
                <a:cs typeface="Poppins" pitchFamily="2" charset="77"/>
              </a:rPr>
              <a:t>🔶 Finance Modeling, </a:t>
            </a:r>
            <a:r>
              <a:rPr lang="en-US" sz="3600" dirty="0">
                <a:latin typeface="Poppins" pitchFamily="2" charset="77"/>
                <a:cs typeface="Poppins" pitchFamily="2" charset="77"/>
              </a:rPr>
              <a:t>Forecasting, anomaly detection, time-series analysis</a:t>
            </a:r>
          </a:p>
          <a:p>
            <a:endParaRPr lang="en-US" sz="3600" dirty="0">
              <a:latin typeface="Poppins" pitchFamily="2" charset="77"/>
              <a:cs typeface="Poppins" pitchFamily="2" charset="77"/>
            </a:endParaRPr>
          </a:p>
          <a:p>
            <a:r>
              <a:rPr lang="en-US" sz="3600" b="1" dirty="0">
                <a:latin typeface="Poppins" pitchFamily="2" charset="77"/>
                <a:cs typeface="Poppins" pitchFamily="2" charset="77"/>
              </a:rPr>
              <a:t>🔶 </a:t>
            </a:r>
            <a:r>
              <a:rPr lang="en-US" sz="3600" dirty="0" err="1">
                <a:latin typeface="Poppins" pitchFamily="2" charset="77"/>
                <a:cs typeface="Poppins" pitchFamily="2" charset="77"/>
              </a:rPr>
              <a:t>MLflow</a:t>
            </a:r>
            <a:r>
              <a:rPr lang="en-US" sz="3600" dirty="0">
                <a:latin typeface="Poppins" pitchFamily="2" charset="77"/>
                <a:cs typeface="Poppins" pitchFamily="2" charset="77"/>
              </a:rPr>
              <a:t>, scikit-learn, Transformers, Flask, Docker</a:t>
            </a:r>
          </a:p>
          <a:p>
            <a:endParaRPr lang="en-US" sz="3600" dirty="0">
              <a:latin typeface="Poppins" pitchFamily="2" charset="77"/>
              <a:cs typeface="Poppins" pitchFamily="2" charset="77"/>
            </a:endParaRPr>
          </a:p>
          <a:p>
            <a:r>
              <a:rPr lang="en-US" sz="3600" b="1" dirty="0">
                <a:latin typeface="Poppins" pitchFamily="2" charset="77"/>
                <a:cs typeface="Poppins" pitchFamily="2" charset="77"/>
              </a:rPr>
              <a:t>🔶 </a:t>
            </a:r>
            <a:r>
              <a:rPr lang="en-US" sz="3600" dirty="0" err="1">
                <a:latin typeface="Poppins" pitchFamily="2" charset="77"/>
                <a:cs typeface="Poppins" pitchFamily="2" charset="77"/>
              </a:rPr>
              <a:t>Jupyter</a:t>
            </a:r>
            <a:r>
              <a:rPr lang="en-US" sz="3600" dirty="0">
                <a:latin typeface="Poppins" pitchFamily="2" charset="77"/>
                <a:cs typeface="Poppins" pitchFamily="2" charset="77"/>
              </a:rPr>
              <a:t>, Git, A/B testing, dashboarding (</a:t>
            </a:r>
            <a:r>
              <a:rPr lang="en-US" sz="3600" b="1" dirty="0">
                <a:latin typeface="Poppins" pitchFamily="2" charset="77"/>
                <a:cs typeface="Poppins" pitchFamily="2" charset="77"/>
              </a:rPr>
              <a:t>Excel </a:t>
            </a:r>
            <a:r>
              <a:rPr lang="en-US" sz="3600" dirty="0">
                <a:latin typeface="Poppins" pitchFamily="2" charset="77"/>
                <a:cs typeface="Poppins" pitchFamily="2" charset="77"/>
              </a:rPr>
              <a:t>+ Python)</a:t>
            </a:r>
          </a:p>
          <a:p>
            <a:endParaRPr lang="en-US" sz="2000" dirty="0">
              <a:latin typeface="Poppins" pitchFamily="2" charset="77"/>
              <a:cs typeface="Poppins" pitchFamily="2" charset="77"/>
            </a:endParaRPr>
          </a:p>
          <a:p>
            <a:endParaRPr lang="en-US" sz="3200" dirty="0">
              <a:latin typeface="Poppins" pitchFamily="2" charset="77"/>
              <a:cs typeface="Poppins" pitchFamily="2" charset="77"/>
            </a:endParaRPr>
          </a:p>
          <a:p>
            <a:r>
              <a:rPr lang="en-US" sz="3600" dirty="0" err="1">
                <a:latin typeface="Poppins" pitchFamily="2" charset="77"/>
                <a:cs typeface="Poppins" pitchFamily="2" charset="77"/>
              </a:rPr>
              <a:t>Linkedin</a:t>
            </a:r>
            <a:r>
              <a:rPr lang="en-US" sz="3600" dirty="0">
                <a:latin typeface="Poppins" pitchFamily="2" charset="77"/>
                <a:cs typeface="Poppins" pitchFamily="2" charset="77"/>
              </a:rPr>
              <a:t>: </a:t>
            </a:r>
            <a:r>
              <a:rPr lang="en-US" dirty="0">
                <a:latin typeface="Poppins" pitchFamily="2" charset="77"/>
                <a:cs typeface="Poppins" pitchFamily="2" charset="77"/>
              </a:rPr>
              <a:t>https://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www.linkedin.com</a:t>
            </a:r>
            <a:r>
              <a:rPr lang="en-US" dirty="0">
                <a:latin typeface="Poppins" pitchFamily="2" charset="77"/>
                <a:cs typeface="Poppins" pitchFamily="2" charset="77"/>
              </a:rPr>
              <a:t>/in/chuhan-zhang-5845a1237/</a:t>
            </a:r>
          </a:p>
          <a:p>
            <a:r>
              <a:rPr lang="en-US" sz="3600" dirty="0" err="1">
                <a:latin typeface="Poppins" pitchFamily="2" charset="77"/>
                <a:cs typeface="Poppins" pitchFamily="2" charset="77"/>
              </a:rPr>
              <a:t>Github</a:t>
            </a:r>
            <a:r>
              <a:rPr lang="en-US" sz="3600" dirty="0">
                <a:latin typeface="Poppins" pitchFamily="2" charset="77"/>
                <a:cs typeface="Poppins" pitchFamily="2" charset="77"/>
              </a:rPr>
              <a:t>: </a:t>
            </a:r>
            <a:r>
              <a:rPr lang="en-US" dirty="0">
                <a:latin typeface="Poppins" pitchFamily="2" charset="77"/>
                <a:cs typeface="Poppins" pitchFamily="2" charset="77"/>
              </a:rPr>
              <a:t>https://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github.com</a:t>
            </a:r>
            <a:r>
              <a:rPr lang="en-US" dirty="0">
                <a:latin typeface="Poppins" pitchFamily="2" charset="77"/>
                <a:cs typeface="Poppins" pitchFamily="2" charset="77"/>
              </a:rPr>
              <a:t>/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BrynnZhang</a:t>
            </a:r>
            <a:endParaRPr lang="en-US" dirty="0">
              <a:latin typeface="Poppins" pitchFamily="2" charset="77"/>
              <a:cs typeface="Poppins" pitchFamily="2" charset="77"/>
            </a:endParaRPr>
          </a:p>
          <a:p>
            <a:endParaRPr lang="en-US" sz="36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8D0865B0-5C40-4B97-34F8-E36158D7C0AA}"/>
              </a:ext>
            </a:extLst>
          </p:cNvPr>
          <p:cNvSpPr txBox="1"/>
          <p:nvPr/>
        </p:nvSpPr>
        <p:spPr>
          <a:xfrm>
            <a:off x="876300" y="588884"/>
            <a:ext cx="144907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4000" b="1" dirty="0">
                <a:solidFill>
                  <a:schemeClr val="accent6">
                    <a:lumMod val="75000"/>
                  </a:schemeClr>
                </a:solidFill>
                <a:latin typeface="Poppins"/>
              </a:rPr>
              <a:t>Technical Skillset (aligned to the internship)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517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  <a:ln w="50800">
            <a:solidFill>
              <a:srgbClr val="FFC277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8000" b="8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" b="306"/>
          <a:stretch/>
        </p:blipFill>
        <p:spPr>
          <a:xfrm>
            <a:off x="50800" y="50800"/>
            <a:ext cx="16129000" cy="9017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50800" y="381000"/>
            <a:ext cx="16129000" cy="9017000"/>
          </a:xfrm>
          <a:prstGeom prst="rect">
            <a:avLst/>
          </a:prstGeom>
          <a:solidFill>
            <a:srgbClr val="FFFFFF">
              <a:alpha val="6000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5570200" y="190500"/>
            <a:ext cx="469900" cy="4699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876300" y="2540000"/>
            <a:ext cx="144907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60000"/>
              </a:lnSpc>
              <a:defRPr/>
            </a:pPr>
            <a:r>
              <a:rPr lang="en-US" sz="4900" b="1" dirty="0">
                <a:solidFill>
                  <a:schemeClr val="accent6">
                    <a:lumMod val="75000"/>
                  </a:schemeClr>
                </a:solidFill>
                <a:latin typeface="&quot;Yeseva One&quot;"/>
              </a:rPr>
              <a:t>The Home Depot Already Excels—My Goal is to Build Resilience</a:t>
            </a:r>
            <a:endParaRPr lang="en-US" sz="11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6300" y="4330700"/>
            <a:ext cx="14490700" cy="226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60000"/>
              </a:lnSpc>
              <a:defRPr/>
            </a:pPr>
            <a:r>
              <a:rPr lang="en-US" sz="1600" b="1" dirty="0">
                <a:solidFill>
                  <a:srgbClr val="333333"/>
                </a:solidFill>
                <a:latin typeface="&quot;Yeseva One&quot;"/>
              </a:rPr>
              <a:t>As a Master's intern, I can create a reproducible, lightweight analytics framework that helps Home Depot stabilize comparable sales by identifying and amplifying resilient demand pockets. Thank you for considering this proposal.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1428</Words>
  <Application>Microsoft Macintosh PowerPoint</Application>
  <PresentationFormat>Custom</PresentationFormat>
  <Paragraphs>225</Paragraphs>
  <Slides>12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"Yeseva One"</vt:lpstr>
      <vt:lpstr>Aptos</vt:lpstr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ZhangChuhan</cp:lastModifiedBy>
  <cp:revision>5</cp:revision>
  <dcterms:created xsi:type="dcterms:W3CDTF">2006-08-16T00:00:00Z</dcterms:created>
  <dcterms:modified xsi:type="dcterms:W3CDTF">2025-12-07T03:43:49Z</dcterms:modified>
</cp:coreProperties>
</file>